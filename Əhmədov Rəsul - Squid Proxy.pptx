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72"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5" r:id="rId18"/>
    <p:sldId id="274"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8C9A1-FC49-A15E-8599-49AD8F794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F48C9CB-2459-750D-AADA-A1AA686E25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3C998D-0DDA-64E2-2939-C971AAA32AAA}"/>
              </a:ext>
            </a:extLst>
          </p:cNvPr>
          <p:cNvSpPr>
            <a:spLocks noGrp="1"/>
          </p:cNvSpPr>
          <p:nvPr>
            <p:ph type="dt" sz="half" idx="10"/>
          </p:nvPr>
        </p:nvSpPr>
        <p:spPr/>
        <p:txBody>
          <a:bodyPr/>
          <a:lstStyle/>
          <a:p>
            <a:fld id="{49737B41-D2A1-42D2-93CA-8B7997F63E7F}" type="datetimeFigureOut">
              <a:rPr lang="en-US" smtClean="0"/>
              <a:t>10/3/2026</a:t>
            </a:fld>
            <a:endParaRPr lang="en-US"/>
          </a:p>
        </p:txBody>
      </p:sp>
      <p:sp>
        <p:nvSpPr>
          <p:cNvPr id="5" name="Footer Placeholder 4">
            <a:extLst>
              <a:ext uri="{FF2B5EF4-FFF2-40B4-BE49-F238E27FC236}">
                <a16:creationId xmlns:a16="http://schemas.microsoft.com/office/drawing/2014/main" id="{E20C67F4-0BCB-3665-90EE-D95F3CB0A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17744-3F45-1F21-D0DA-9E5E08DDD1BC}"/>
              </a:ext>
            </a:extLst>
          </p:cNvPr>
          <p:cNvSpPr>
            <a:spLocks noGrp="1"/>
          </p:cNvSpPr>
          <p:nvPr>
            <p:ph type="sldNum" sz="quarter" idx="12"/>
          </p:nvPr>
        </p:nvSpPr>
        <p:spPr/>
        <p:txBody>
          <a:bodyPr/>
          <a:lstStyle/>
          <a:p>
            <a:fld id="{1A19E9F4-15A5-401E-AB8C-12851F045E71}" type="slidenum">
              <a:rPr lang="en-US" smtClean="0"/>
              <a:t>‹#›</a:t>
            </a:fld>
            <a:endParaRPr lang="en-US"/>
          </a:p>
        </p:txBody>
      </p:sp>
    </p:spTree>
    <p:extLst>
      <p:ext uri="{BB962C8B-B14F-4D97-AF65-F5344CB8AC3E}">
        <p14:creationId xmlns:p14="http://schemas.microsoft.com/office/powerpoint/2010/main" val="1087040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7A5DB-CB11-71F5-C637-FC27414BA8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E3E930-79BD-13A3-4973-CFDFA6CB7B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047514-9B69-BD25-928D-434B24C0FBB2}"/>
              </a:ext>
            </a:extLst>
          </p:cNvPr>
          <p:cNvSpPr>
            <a:spLocks noGrp="1"/>
          </p:cNvSpPr>
          <p:nvPr>
            <p:ph type="dt" sz="half" idx="10"/>
          </p:nvPr>
        </p:nvSpPr>
        <p:spPr/>
        <p:txBody>
          <a:bodyPr/>
          <a:lstStyle/>
          <a:p>
            <a:fld id="{49737B41-D2A1-42D2-93CA-8B7997F63E7F}" type="datetimeFigureOut">
              <a:rPr lang="en-US" smtClean="0"/>
              <a:t>10/3/2026</a:t>
            </a:fld>
            <a:endParaRPr lang="en-US"/>
          </a:p>
        </p:txBody>
      </p:sp>
      <p:sp>
        <p:nvSpPr>
          <p:cNvPr id="5" name="Footer Placeholder 4">
            <a:extLst>
              <a:ext uri="{FF2B5EF4-FFF2-40B4-BE49-F238E27FC236}">
                <a16:creationId xmlns:a16="http://schemas.microsoft.com/office/drawing/2014/main" id="{55DFE411-9A3A-1EFB-2E86-991E23EA54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E9E586-C902-5ED5-C60F-EEF38140359E}"/>
              </a:ext>
            </a:extLst>
          </p:cNvPr>
          <p:cNvSpPr>
            <a:spLocks noGrp="1"/>
          </p:cNvSpPr>
          <p:nvPr>
            <p:ph type="sldNum" sz="quarter" idx="12"/>
          </p:nvPr>
        </p:nvSpPr>
        <p:spPr/>
        <p:txBody>
          <a:bodyPr/>
          <a:lstStyle/>
          <a:p>
            <a:fld id="{1A19E9F4-15A5-401E-AB8C-12851F045E71}" type="slidenum">
              <a:rPr lang="en-US" smtClean="0"/>
              <a:t>‹#›</a:t>
            </a:fld>
            <a:endParaRPr lang="en-US"/>
          </a:p>
        </p:txBody>
      </p:sp>
    </p:spTree>
    <p:extLst>
      <p:ext uri="{BB962C8B-B14F-4D97-AF65-F5344CB8AC3E}">
        <p14:creationId xmlns:p14="http://schemas.microsoft.com/office/powerpoint/2010/main" val="1307590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6C1AC-42A5-6412-DF86-71012E7BBB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1A6690-88E8-B61E-F2B1-2300CD4F8F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9D686B-D462-BAB0-1BD9-DE88E8A0B5CE}"/>
              </a:ext>
            </a:extLst>
          </p:cNvPr>
          <p:cNvSpPr>
            <a:spLocks noGrp="1"/>
          </p:cNvSpPr>
          <p:nvPr>
            <p:ph type="dt" sz="half" idx="10"/>
          </p:nvPr>
        </p:nvSpPr>
        <p:spPr/>
        <p:txBody>
          <a:bodyPr/>
          <a:lstStyle/>
          <a:p>
            <a:fld id="{49737B41-D2A1-42D2-93CA-8B7997F63E7F}" type="datetimeFigureOut">
              <a:rPr lang="en-US" smtClean="0"/>
              <a:t>10/3/2026</a:t>
            </a:fld>
            <a:endParaRPr lang="en-US"/>
          </a:p>
        </p:txBody>
      </p:sp>
      <p:sp>
        <p:nvSpPr>
          <p:cNvPr id="5" name="Footer Placeholder 4">
            <a:extLst>
              <a:ext uri="{FF2B5EF4-FFF2-40B4-BE49-F238E27FC236}">
                <a16:creationId xmlns:a16="http://schemas.microsoft.com/office/drawing/2014/main" id="{48C6F002-FF7C-5F18-582D-95BE5EA541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9E41C3-A817-0B58-4A02-FE084E963F27}"/>
              </a:ext>
            </a:extLst>
          </p:cNvPr>
          <p:cNvSpPr>
            <a:spLocks noGrp="1"/>
          </p:cNvSpPr>
          <p:nvPr>
            <p:ph type="sldNum" sz="quarter" idx="12"/>
          </p:nvPr>
        </p:nvSpPr>
        <p:spPr/>
        <p:txBody>
          <a:bodyPr/>
          <a:lstStyle/>
          <a:p>
            <a:fld id="{1A19E9F4-15A5-401E-AB8C-12851F045E71}" type="slidenum">
              <a:rPr lang="en-US" smtClean="0"/>
              <a:t>‹#›</a:t>
            </a:fld>
            <a:endParaRPr lang="en-US"/>
          </a:p>
        </p:txBody>
      </p:sp>
    </p:spTree>
    <p:extLst>
      <p:ext uri="{BB962C8B-B14F-4D97-AF65-F5344CB8AC3E}">
        <p14:creationId xmlns:p14="http://schemas.microsoft.com/office/powerpoint/2010/main" val="1625689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7AB3B-986E-A6A0-306A-88D297B316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6CECC3-5B2E-46EB-163B-F96CF0FAEE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4130A9-4F32-B1FB-0A01-5EDC03F1AB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D92E43-3F7E-DE2E-EE6E-0BF78E705F3A}"/>
              </a:ext>
            </a:extLst>
          </p:cNvPr>
          <p:cNvSpPr>
            <a:spLocks noGrp="1"/>
          </p:cNvSpPr>
          <p:nvPr>
            <p:ph type="dt" sz="half" idx="10"/>
          </p:nvPr>
        </p:nvSpPr>
        <p:spPr/>
        <p:txBody>
          <a:bodyPr/>
          <a:lstStyle/>
          <a:p>
            <a:fld id="{49737B41-D2A1-42D2-93CA-8B7997F63E7F}" type="datetimeFigureOut">
              <a:rPr lang="en-US" smtClean="0"/>
              <a:t>10/3/2026</a:t>
            </a:fld>
            <a:endParaRPr lang="en-US"/>
          </a:p>
        </p:txBody>
      </p:sp>
      <p:sp>
        <p:nvSpPr>
          <p:cNvPr id="6" name="Footer Placeholder 5">
            <a:extLst>
              <a:ext uri="{FF2B5EF4-FFF2-40B4-BE49-F238E27FC236}">
                <a16:creationId xmlns:a16="http://schemas.microsoft.com/office/drawing/2014/main" id="{D3CA2717-B798-B7D1-6CFF-FAA4ADC32C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271FBE-2016-FE85-E397-C84DE3C52151}"/>
              </a:ext>
            </a:extLst>
          </p:cNvPr>
          <p:cNvSpPr>
            <a:spLocks noGrp="1"/>
          </p:cNvSpPr>
          <p:nvPr>
            <p:ph type="sldNum" sz="quarter" idx="12"/>
          </p:nvPr>
        </p:nvSpPr>
        <p:spPr/>
        <p:txBody>
          <a:bodyPr/>
          <a:lstStyle/>
          <a:p>
            <a:fld id="{1A19E9F4-15A5-401E-AB8C-12851F045E71}" type="slidenum">
              <a:rPr lang="en-US" smtClean="0"/>
              <a:t>‹#›</a:t>
            </a:fld>
            <a:endParaRPr lang="en-US"/>
          </a:p>
        </p:txBody>
      </p:sp>
    </p:spTree>
    <p:extLst>
      <p:ext uri="{BB962C8B-B14F-4D97-AF65-F5344CB8AC3E}">
        <p14:creationId xmlns:p14="http://schemas.microsoft.com/office/powerpoint/2010/main" val="222136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2CD86-B1BD-615F-EACF-EE2AF81264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490BDD-8472-65E6-AC96-2F9AE202AE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2A04CA-BAB4-4E82-404E-9E3FDD5F69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F586C1-1E7A-DC5F-560E-0115A4BDCD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2147CD-7249-1468-D9CB-261F0EA425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3AC925-B1C2-0C9B-24AB-ED99B10FA250}"/>
              </a:ext>
            </a:extLst>
          </p:cNvPr>
          <p:cNvSpPr>
            <a:spLocks noGrp="1"/>
          </p:cNvSpPr>
          <p:nvPr>
            <p:ph type="dt" sz="half" idx="10"/>
          </p:nvPr>
        </p:nvSpPr>
        <p:spPr/>
        <p:txBody>
          <a:bodyPr/>
          <a:lstStyle/>
          <a:p>
            <a:fld id="{49737B41-D2A1-42D2-93CA-8B7997F63E7F}" type="datetimeFigureOut">
              <a:rPr lang="en-US" smtClean="0"/>
              <a:t>10/3/2026</a:t>
            </a:fld>
            <a:endParaRPr lang="en-US"/>
          </a:p>
        </p:txBody>
      </p:sp>
      <p:sp>
        <p:nvSpPr>
          <p:cNvPr id="8" name="Footer Placeholder 7">
            <a:extLst>
              <a:ext uri="{FF2B5EF4-FFF2-40B4-BE49-F238E27FC236}">
                <a16:creationId xmlns:a16="http://schemas.microsoft.com/office/drawing/2014/main" id="{F39E2442-8F39-E30B-756A-8ECAC74F0A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1A95DD-7640-81D7-6134-8C139EE8AF89}"/>
              </a:ext>
            </a:extLst>
          </p:cNvPr>
          <p:cNvSpPr>
            <a:spLocks noGrp="1"/>
          </p:cNvSpPr>
          <p:nvPr>
            <p:ph type="sldNum" sz="quarter" idx="12"/>
          </p:nvPr>
        </p:nvSpPr>
        <p:spPr/>
        <p:txBody>
          <a:bodyPr/>
          <a:lstStyle/>
          <a:p>
            <a:fld id="{1A19E9F4-15A5-401E-AB8C-12851F045E71}" type="slidenum">
              <a:rPr lang="en-US" smtClean="0"/>
              <a:t>‹#›</a:t>
            </a:fld>
            <a:endParaRPr lang="en-US"/>
          </a:p>
        </p:txBody>
      </p:sp>
    </p:spTree>
    <p:extLst>
      <p:ext uri="{BB962C8B-B14F-4D97-AF65-F5344CB8AC3E}">
        <p14:creationId xmlns:p14="http://schemas.microsoft.com/office/powerpoint/2010/main" val="3259693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B41A6-B861-6591-4A9D-6E12ADC3AD5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55B678-53AE-3BDB-6AAC-B99CAEA90592}"/>
              </a:ext>
            </a:extLst>
          </p:cNvPr>
          <p:cNvSpPr>
            <a:spLocks noGrp="1"/>
          </p:cNvSpPr>
          <p:nvPr>
            <p:ph type="dt" sz="half" idx="10"/>
          </p:nvPr>
        </p:nvSpPr>
        <p:spPr/>
        <p:txBody>
          <a:bodyPr/>
          <a:lstStyle/>
          <a:p>
            <a:fld id="{49737B41-D2A1-42D2-93CA-8B7997F63E7F}" type="datetimeFigureOut">
              <a:rPr lang="en-US" smtClean="0"/>
              <a:t>10/3/2026</a:t>
            </a:fld>
            <a:endParaRPr lang="en-US"/>
          </a:p>
        </p:txBody>
      </p:sp>
      <p:sp>
        <p:nvSpPr>
          <p:cNvPr id="4" name="Footer Placeholder 3">
            <a:extLst>
              <a:ext uri="{FF2B5EF4-FFF2-40B4-BE49-F238E27FC236}">
                <a16:creationId xmlns:a16="http://schemas.microsoft.com/office/drawing/2014/main" id="{1F1CE6A3-5778-320D-D1D6-3CD0D44032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FD97ED-79D0-8871-3F95-C05192ACA796}"/>
              </a:ext>
            </a:extLst>
          </p:cNvPr>
          <p:cNvSpPr>
            <a:spLocks noGrp="1"/>
          </p:cNvSpPr>
          <p:nvPr>
            <p:ph type="sldNum" sz="quarter" idx="12"/>
          </p:nvPr>
        </p:nvSpPr>
        <p:spPr/>
        <p:txBody>
          <a:bodyPr/>
          <a:lstStyle/>
          <a:p>
            <a:fld id="{1A19E9F4-15A5-401E-AB8C-12851F045E71}" type="slidenum">
              <a:rPr lang="en-US" smtClean="0"/>
              <a:t>‹#›</a:t>
            </a:fld>
            <a:endParaRPr lang="en-US"/>
          </a:p>
        </p:txBody>
      </p:sp>
    </p:spTree>
    <p:extLst>
      <p:ext uri="{BB962C8B-B14F-4D97-AF65-F5344CB8AC3E}">
        <p14:creationId xmlns:p14="http://schemas.microsoft.com/office/powerpoint/2010/main" val="2942719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D34ABF-C91B-D72F-0BA4-6C6750DADBEB}"/>
              </a:ext>
            </a:extLst>
          </p:cNvPr>
          <p:cNvSpPr>
            <a:spLocks noGrp="1"/>
          </p:cNvSpPr>
          <p:nvPr>
            <p:ph type="dt" sz="half" idx="10"/>
          </p:nvPr>
        </p:nvSpPr>
        <p:spPr/>
        <p:txBody>
          <a:bodyPr/>
          <a:lstStyle/>
          <a:p>
            <a:fld id="{49737B41-D2A1-42D2-93CA-8B7997F63E7F}" type="datetimeFigureOut">
              <a:rPr lang="en-US" smtClean="0"/>
              <a:t>10/3/2026</a:t>
            </a:fld>
            <a:endParaRPr lang="en-US"/>
          </a:p>
        </p:txBody>
      </p:sp>
      <p:sp>
        <p:nvSpPr>
          <p:cNvPr id="3" name="Footer Placeholder 2">
            <a:extLst>
              <a:ext uri="{FF2B5EF4-FFF2-40B4-BE49-F238E27FC236}">
                <a16:creationId xmlns:a16="http://schemas.microsoft.com/office/drawing/2014/main" id="{1CCA45D1-008F-367C-18DA-F1E053042F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B5E50B-2D3F-8BDA-69DA-7EBF9980F019}"/>
              </a:ext>
            </a:extLst>
          </p:cNvPr>
          <p:cNvSpPr>
            <a:spLocks noGrp="1"/>
          </p:cNvSpPr>
          <p:nvPr>
            <p:ph type="sldNum" sz="quarter" idx="12"/>
          </p:nvPr>
        </p:nvSpPr>
        <p:spPr/>
        <p:txBody>
          <a:bodyPr/>
          <a:lstStyle/>
          <a:p>
            <a:fld id="{1A19E9F4-15A5-401E-AB8C-12851F045E71}" type="slidenum">
              <a:rPr lang="en-US" smtClean="0"/>
              <a:t>‹#›</a:t>
            </a:fld>
            <a:endParaRPr lang="en-US"/>
          </a:p>
        </p:txBody>
      </p:sp>
    </p:spTree>
    <p:extLst>
      <p:ext uri="{BB962C8B-B14F-4D97-AF65-F5344CB8AC3E}">
        <p14:creationId xmlns:p14="http://schemas.microsoft.com/office/powerpoint/2010/main" val="2870965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E36D3-E2B8-DFF2-C928-A470157F7E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660761-3674-9FA7-E976-A4ECFF981B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31A4613-1523-EEBA-38F0-694E3B0694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F129D0-8396-0196-1C87-695A03968329}"/>
              </a:ext>
            </a:extLst>
          </p:cNvPr>
          <p:cNvSpPr>
            <a:spLocks noGrp="1"/>
          </p:cNvSpPr>
          <p:nvPr>
            <p:ph type="dt" sz="half" idx="10"/>
          </p:nvPr>
        </p:nvSpPr>
        <p:spPr/>
        <p:txBody>
          <a:bodyPr/>
          <a:lstStyle/>
          <a:p>
            <a:fld id="{49737B41-D2A1-42D2-93CA-8B7997F63E7F}" type="datetimeFigureOut">
              <a:rPr lang="en-US" smtClean="0"/>
              <a:t>10/3/2026</a:t>
            </a:fld>
            <a:endParaRPr lang="en-US"/>
          </a:p>
        </p:txBody>
      </p:sp>
      <p:sp>
        <p:nvSpPr>
          <p:cNvPr id="6" name="Footer Placeholder 5">
            <a:extLst>
              <a:ext uri="{FF2B5EF4-FFF2-40B4-BE49-F238E27FC236}">
                <a16:creationId xmlns:a16="http://schemas.microsoft.com/office/drawing/2014/main" id="{976A2E5B-3E5E-CAF3-DF31-0C4494D34A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04717C-BC46-ECC1-CE8F-E760C187D5DA}"/>
              </a:ext>
            </a:extLst>
          </p:cNvPr>
          <p:cNvSpPr>
            <a:spLocks noGrp="1"/>
          </p:cNvSpPr>
          <p:nvPr>
            <p:ph type="sldNum" sz="quarter" idx="12"/>
          </p:nvPr>
        </p:nvSpPr>
        <p:spPr/>
        <p:txBody>
          <a:bodyPr/>
          <a:lstStyle/>
          <a:p>
            <a:fld id="{1A19E9F4-15A5-401E-AB8C-12851F045E71}" type="slidenum">
              <a:rPr lang="en-US" smtClean="0"/>
              <a:t>‹#›</a:t>
            </a:fld>
            <a:endParaRPr lang="en-US"/>
          </a:p>
        </p:txBody>
      </p:sp>
    </p:spTree>
    <p:extLst>
      <p:ext uri="{BB962C8B-B14F-4D97-AF65-F5344CB8AC3E}">
        <p14:creationId xmlns:p14="http://schemas.microsoft.com/office/powerpoint/2010/main" val="2243393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584-6477-CEAC-108D-56DFFD49F5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D15F1C-D442-D382-F2EA-B3B86D96C6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D367DD-46BA-DB89-1417-C1D31BC436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1313A5-1A77-C67F-71A8-C4EEBC51D11B}"/>
              </a:ext>
            </a:extLst>
          </p:cNvPr>
          <p:cNvSpPr>
            <a:spLocks noGrp="1"/>
          </p:cNvSpPr>
          <p:nvPr>
            <p:ph type="dt" sz="half" idx="10"/>
          </p:nvPr>
        </p:nvSpPr>
        <p:spPr/>
        <p:txBody>
          <a:bodyPr/>
          <a:lstStyle/>
          <a:p>
            <a:fld id="{49737B41-D2A1-42D2-93CA-8B7997F63E7F}" type="datetimeFigureOut">
              <a:rPr lang="en-US" smtClean="0"/>
              <a:t>10/3/2026</a:t>
            </a:fld>
            <a:endParaRPr lang="en-US"/>
          </a:p>
        </p:txBody>
      </p:sp>
      <p:sp>
        <p:nvSpPr>
          <p:cNvPr id="6" name="Footer Placeholder 5">
            <a:extLst>
              <a:ext uri="{FF2B5EF4-FFF2-40B4-BE49-F238E27FC236}">
                <a16:creationId xmlns:a16="http://schemas.microsoft.com/office/drawing/2014/main" id="{767E8EA1-3601-8190-F376-509A2D9510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FB08C6-E7E8-33F0-FE40-F9068873151D}"/>
              </a:ext>
            </a:extLst>
          </p:cNvPr>
          <p:cNvSpPr>
            <a:spLocks noGrp="1"/>
          </p:cNvSpPr>
          <p:nvPr>
            <p:ph type="sldNum" sz="quarter" idx="12"/>
          </p:nvPr>
        </p:nvSpPr>
        <p:spPr/>
        <p:txBody>
          <a:bodyPr/>
          <a:lstStyle/>
          <a:p>
            <a:fld id="{1A19E9F4-15A5-401E-AB8C-12851F045E71}" type="slidenum">
              <a:rPr lang="en-US" smtClean="0"/>
              <a:t>‹#›</a:t>
            </a:fld>
            <a:endParaRPr lang="en-US"/>
          </a:p>
        </p:txBody>
      </p:sp>
    </p:spTree>
    <p:extLst>
      <p:ext uri="{BB962C8B-B14F-4D97-AF65-F5344CB8AC3E}">
        <p14:creationId xmlns:p14="http://schemas.microsoft.com/office/powerpoint/2010/main" val="3817070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5D35B-29E2-4DF1-4788-76C4E6AEA59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328D199-F37E-499F-3CB8-1D133D6789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7263E7-03C9-70F2-4C48-0E8DB01B3072}"/>
              </a:ext>
            </a:extLst>
          </p:cNvPr>
          <p:cNvSpPr>
            <a:spLocks noGrp="1"/>
          </p:cNvSpPr>
          <p:nvPr>
            <p:ph type="dt" sz="half" idx="10"/>
          </p:nvPr>
        </p:nvSpPr>
        <p:spPr/>
        <p:txBody>
          <a:bodyPr/>
          <a:lstStyle/>
          <a:p>
            <a:fld id="{49737B41-D2A1-42D2-93CA-8B7997F63E7F}" type="datetimeFigureOut">
              <a:rPr lang="en-US" smtClean="0"/>
              <a:t>10/3/2026</a:t>
            </a:fld>
            <a:endParaRPr lang="en-US"/>
          </a:p>
        </p:txBody>
      </p:sp>
      <p:sp>
        <p:nvSpPr>
          <p:cNvPr id="5" name="Footer Placeholder 4">
            <a:extLst>
              <a:ext uri="{FF2B5EF4-FFF2-40B4-BE49-F238E27FC236}">
                <a16:creationId xmlns:a16="http://schemas.microsoft.com/office/drawing/2014/main" id="{6D8900B8-FCBF-EF2A-A80A-64F0D84AEF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F47B01-0874-C66C-7E57-7C311E62EB20}"/>
              </a:ext>
            </a:extLst>
          </p:cNvPr>
          <p:cNvSpPr>
            <a:spLocks noGrp="1"/>
          </p:cNvSpPr>
          <p:nvPr>
            <p:ph type="sldNum" sz="quarter" idx="12"/>
          </p:nvPr>
        </p:nvSpPr>
        <p:spPr/>
        <p:txBody>
          <a:bodyPr/>
          <a:lstStyle/>
          <a:p>
            <a:fld id="{1A19E9F4-15A5-401E-AB8C-12851F045E71}" type="slidenum">
              <a:rPr lang="en-US" smtClean="0"/>
              <a:t>‹#›</a:t>
            </a:fld>
            <a:endParaRPr lang="en-US"/>
          </a:p>
        </p:txBody>
      </p:sp>
    </p:spTree>
    <p:extLst>
      <p:ext uri="{BB962C8B-B14F-4D97-AF65-F5344CB8AC3E}">
        <p14:creationId xmlns:p14="http://schemas.microsoft.com/office/powerpoint/2010/main" val="1606364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5BBA9B-B950-4935-0153-45B7BD1946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104947-7F37-8FFC-901A-4385071EF8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B27D15-3C18-3AE3-E247-39D80BBA6F69}"/>
              </a:ext>
            </a:extLst>
          </p:cNvPr>
          <p:cNvSpPr>
            <a:spLocks noGrp="1"/>
          </p:cNvSpPr>
          <p:nvPr>
            <p:ph type="dt" sz="half" idx="10"/>
          </p:nvPr>
        </p:nvSpPr>
        <p:spPr/>
        <p:txBody>
          <a:bodyPr/>
          <a:lstStyle/>
          <a:p>
            <a:fld id="{49737B41-D2A1-42D2-93CA-8B7997F63E7F}" type="datetimeFigureOut">
              <a:rPr lang="en-US" smtClean="0"/>
              <a:t>10/3/2026</a:t>
            </a:fld>
            <a:endParaRPr lang="en-US"/>
          </a:p>
        </p:txBody>
      </p:sp>
      <p:sp>
        <p:nvSpPr>
          <p:cNvPr id="5" name="Footer Placeholder 4">
            <a:extLst>
              <a:ext uri="{FF2B5EF4-FFF2-40B4-BE49-F238E27FC236}">
                <a16:creationId xmlns:a16="http://schemas.microsoft.com/office/drawing/2014/main" id="{A89FE15E-A71D-3C3C-F072-78E96A0613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188C20-2953-7DDD-9CEC-8E9A4E991870}"/>
              </a:ext>
            </a:extLst>
          </p:cNvPr>
          <p:cNvSpPr>
            <a:spLocks noGrp="1"/>
          </p:cNvSpPr>
          <p:nvPr>
            <p:ph type="sldNum" sz="quarter" idx="12"/>
          </p:nvPr>
        </p:nvSpPr>
        <p:spPr/>
        <p:txBody>
          <a:bodyPr/>
          <a:lstStyle/>
          <a:p>
            <a:fld id="{1A19E9F4-15A5-401E-AB8C-12851F045E71}" type="slidenum">
              <a:rPr lang="en-US" smtClean="0"/>
              <a:t>‹#›</a:t>
            </a:fld>
            <a:endParaRPr lang="en-US"/>
          </a:p>
        </p:txBody>
      </p:sp>
    </p:spTree>
    <p:extLst>
      <p:ext uri="{BB962C8B-B14F-4D97-AF65-F5344CB8AC3E}">
        <p14:creationId xmlns:p14="http://schemas.microsoft.com/office/powerpoint/2010/main" val="4054395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5C01C8-1861-95E1-5F9A-ADF8684253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865E7C-B487-B442-9815-DB84609CCA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928588-183E-07A9-C817-0BA5089810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737B41-D2A1-42D2-93CA-8B7997F63E7F}" type="datetimeFigureOut">
              <a:rPr lang="en-US" smtClean="0"/>
              <a:t>10/3/2026</a:t>
            </a:fld>
            <a:endParaRPr lang="en-US"/>
          </a:p>
        </p:txBody>
      </p:sp>
      <p:sp>
        <p:nvSpPr>
          <p:cNvPr id="5" name="Footer Placeholder 4">
            <a:extLst>
              <a:ext uri="{FF2B5EF4-FFF2-40B4-BE49-F238E27FC236}">
                <a16:creationId xmlns:a16="http://schemas.microsoft.com/office/drawing/2014/main" id="{55D9D240-90B0-E321-AABD-3771C3749E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25DFF78-B65C-9448-8166-8593240A0B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19E9F4-15A5-401E-AB8C-12851F045E71}" type="slidenum">
              <a:rPr lang="en-US" smtClean="0"/>
              <a:t>‹#›</a:t>
            </a:fld>
            <a:endParaRPr lang="en-US"/>
          </a:p>
        </p:txBody>
      </p:sp>
    </p:spTree>
    <p:extLst>
      <p:ext uri="{BB962C8B-B14F-4D97-AF65-F5344CB8AC3E}">
        <p14:creationId xmlns:p14="http://schemas.microsoft.com/office/powerpoint/2010/main" val="7918738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gif"/><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www.squid-cache.org/" TargetMode="External"/><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hyperlink" Target="https://medium.com/@minigear/introduction-to-squid-proxy-server-and-application-5f307245fa1d#:~:text=Advantages,speeds%20with%20frequently%2Dused%20content" TargetMode="External"/><Relationship Id="rId4" Type="http://schemas.openxmlformats.org/officeDocument/2006/relationships/hyperlink" Target="https://ubuntu.com/server/docs/proxy-servers-squid"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title_closing_bg.png"/>
          <p:cNvPicPr>
            <a:picLocks noChangeAspect="1"/>
          </p:cNvPicPr>
          <p:nvPr/>
        </p:nvPicPr>
        <p:blipFill>
          <a:blip r:embed="rId2"/>
          <a:stretch>
            <a:fillRect/>
          </a:stretch>
        </p:blipFill>
        <p:spPr>
          <a:xfrm>
            <a:off x="0" y="0"/>
            <a:ext cx="12191999" cy="6858000"/>
          </a:xfrm>
          <a:prstGeom prst="rect">
            <a:avLst/>
          </a:prstGeom>
        </p:spPr>
      </p:pic>
      <p:sp>
        <p:nvSpPr>
          <p:cNvPr id="3" name="TextBox 2">
            <a:extLst>
              <a:ext uri="{FF2B5EF4-FFF2-40B4-BE49-F238E27FC236}">
                <a16:creationId xmlns:a16="http://schemas.microsoft.com/office/drawing/2014/main" id="{C161EE14-AC31-5BC7-5CAC-FD1A40A60037}"/>
              </a:ext>
            </a:extLst>
          </p:cNvPr>
          <p:cNvSpPr txBox="1"/>
          <p:nvPr/>
        </p:nvSpPr>
        <p:spPr>
          <a:xfrm>
            <a:off x="1056901" y="3741220"/>
            <a:ext cx="5911703" cy="1477328"/>
          </a:xfrm>
          <a:prstGeom prst="rect">
            <a:avLst/>
          </a:prstGeom>
          <a:noFill/>
        </p:spPr>
        <p:txBody>
          <a:bodyPr wrap="square" rtlCol="0">
            <a:spAutoFit/>
          </a:bodyPr>
          <a:lstStyle/>
          <a:p>
            <a:r>
              <a:rPr lang="az-Latn-AZ" sz="1800" dirty="0">
                <a:solidFill>
                  <a:schemeClr val="bg1"/>
                </a:solidFill>
                <a:latin typeface="Times New Roman" panose="02020603050405020304" pitchFamily="18" charset="0"/>
                <a:cs typeface="Times New Roman" panose="02020603050405020304" pitchFamily="18" charset="0"/>
              </a:rPr>
              <a:t>Müəllim: Məlik Məhərrəmzadə</a:t>
            </a:r>
          </a:p>
          <a:p>
            <a:r>
              <a:rPr lang="az-Latn-AZ" sz="1800" dirty="0">
                <a:solidFill>
                  <a:schemeClr val="bg1"/>
                </a:solidFill>
                <a:latin typeface="Times New Roman" panose="02020603050405020304" pitchFamily="18" charset="0"/>
                <a:cs typeface="Times New Roman" panose="02020603050405020304" pitchFamily="18" charset="0"/>
              </a:rPr>
              <a:t>Tələbə: Rəsul Əhmədov</a:t>
            </a:r>
            <a:br>
              <a:rPr lang="az-Latn-AZ" sz="1800" dirty="0">
                <a:solidFill>
                  <a:schemeClr val="bg1"/>
                </a:solidFill>
                <a:latin typeface="Times New Roman" panose="02020603050405020304" pitchFamily="18" charset="0"/>
                <a:cs typeface="Times New Roman" panose="02020603050405020304" pitchFamily="18" charset="0"/>
              </a:rPr>
            </a:br>
            <a:br>
              <a:rPr lang="az-Latn-AZ" sz="1800" dirty="0">
                <a:solidFill>
                  <a:schemeClr val="bg1"/>
                </a:solidFill>
                <a:latin typeface="Times New Roman" panose="02020603050405020304" pitchFamily="18" charset="0"/>
                <a:cs typeface="Times New Roman" panose="02020603050405020304" pitchFamily="18" charset="0"/>
              </a:rPr>
            </a:br>
            <a:r>
              <a:rPr lang="az-Latn-AZ" sz="1800" dirty="0">
                <a:solidFill>
                  <a:schemeClr val="bg1"/>
                </a:solidFill>
                <a:latin typeface="Times New Roman" panose="02020603050405020304" pitchFamily="18" charset="0"/>
                <a:cs typeface="Times New Roman" panose="02020603050405020304" pitchFamily="18" charset="0"/>
              </a:rPr>
              <a:t>Qrup: Bulud və şəbəkə infrastrukturu - M1116a2</a:t>
            </a:r>
          </a:p>
          <a:p>
            <a:r>
              <a:rPr lang="az-Latn-AZ" sz="1800" dirty="0">
                <a:solidFill>
                  <a:schemeClr val="bg1"/>
                </a:solidFill>
                <a:latin typeface="Times New Roman" panose="02020603050405020304" pitchFamily="18" charset="0"/>
                <a:cs typeface="Times New Roman" panose="02020603050405020304" pitchFamily="18" charset="0"/>
              </a:rPr>
              <a:t>Fənn: Müasir şəbəkə texnologiyaları</a:t>
            </a:r>
          </a:p>
        </p:txBody>
      </p:sp>
      <p:sp>
        <p:nvSpPr>
          <p:cNvPr id="4" name="TextBox 3">
            <a:extLst>
              <a:ext uri="{FF2B5EF4-FFF2-40B4-BE49-F238E27FC236}">
                <a16:creationId xmlns:a16="http://schemas.microsoft.com/office/drawing/2014/main" id="{0A0EA556-0D12-9BA7-E727-CA0DFD5617CC}"/>
              </a:ext>
            </a:extLst>
          </p:cNvPr>
          <p:cNvSpPr txBox="1"/>
          <p:nvPr/>
        </p:nvSpPr>
        <p:spPr>
          <a:xfrm>
            <a:off x="1248937" y="1362454"/>
            <a:ext cx="6527180" cy="646331"/>
          </a:xfrm>
          <a:prstGeom prst="rect">
            <a:avLst/>
          </a:prstGeom>
          <a:noFill/>
        </p:spPr>
        <p:txBody>
          <a:bodyPr wrap="square" rtlCol="0">
            <a:spAutoFit/>
          </a:bodyPr>
          <a:lstStyle/>
          <a:p>
            <a:pPr algn="ctr"/>
            <a:r>
              <a:rPr lang="az-Latn-AZ" sz="3600" b="1" u="sng" dirty="0" err="1">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Squid</a:t>
            </a:r>
            <a:r>
              <a:rPr lang="az-Latn-AZ" sz="3600" b="1" u="sng" dirty="0">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az-Latn-AZ" sz="3600" b="1" u="sng" dirty="0" err="1">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proxy</a:t>
            </a:r>
            <a:endParaRPr lang="en-US" sz="3200" dirty="0">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sp>
        <p:nvSpPr>
          <p:cNvPr id="5" name="TextBox 4">
            <a:extLst>
              <a:ext uri="{FF2B5EF4-FFF2-40B4-BE49-F238E27FC236}">
                <a16:creationId xmlns:a16="http://schemas.microsoft.com/office/drawing/2014/main" id="{82DC858A-533F-F666-B516-6A5D876326DC}"/>
              </a:ext>
            </a:extLst>
          </p:cNvPr>
          <p:cNvSpPr txBox="1"/>
          <p:nvPr/>
        </p:nvSpPr>
        <p:spPr>
          <a:xfrm>
            <a:off x="1403427" y="1713029"/>
            <a:ext cx="6432697" cy="3970318"/>
          </a:xfrm>
          <a:prstGeom prst="rect">
            <a:avLst/>
          </a:prstGeom>
          <a:noFill/>
        </p:spPr>
        <p:txBody>
          <a:bodyPr wrap="square" rtlCol="0">
            <a:spAutoFit/>
          </a:bodyPr>
          <a:lstStyle/>
          <a:p>
            <a:pPr algn="just"/>
            <a:r>
              <a:rPr lang="az-Latn-AZ" b="1" dirty="0">
                <a:latin typeface="Times New Roman" panose="02020603050405020304" pitchFamily="18" charset="0"/>
                <a:cs typeface="Times New Roman" panose="02020603050405020304" pitchFamily="18" charset="0"/>
              </a:rPr>
              <a:t>Squid Proxy </a:t>
            </a:r>
            <a:r>
              <a:rPr lang="az-Latn-AZ" u="sng" dirty="0">
                <a:uFill>
                  <a:solidFill>
                    <a:srgbClr val="FFFF00"/>
                  </a:solidFill>
                </a:uFill>
                <a:latin typeface="Times New Roman" panose="02020603050405020304" pitchFamily="18" charset="0"/>
                <a:cs typeface="Times New Roman" panose="02020603050405020304" pitchFamily="18" charset="0"/>
              </a:rPr>
              <a:t>Hyper Text Transport Protocol (HTTP)</a:t>
            </a:r>
            <a:r>
              <a:rPr lang="az-Latn-AZ" dirty="0">
                <a:latin typeface="Times New Roman" panose="02020603050405020304" pitchFamily="18" charset="0"/>
                <a:cs typeface="Times New Roman" panose="02020603050405020304" pitchFamily="18" charset="0"/>
              </a:rPr>
              <a:t>, </a:t>
            </a:r>
            <a:r>
              <a:rPr lang="az-Latn-AZ" u="sng" dirty="0">
                <a:uFill>
                  <a:solidFill>
                    <a:srgbClr val="FFFF00"/>
                  </a:solidFill>
                </a:uFill>
                <a:latin typeface="Times New Roman" panose="02020603050405020304" pitchFamily="18" charset="0"/>
                <a:cs typeface="Times New Roman" panose="02020603050405020304" pitchFamily="18" charset="0"/>
              </a:rPr>
              <a:t>File Transfer Protocol (FTP)</a:t>
            </a:r>
            <a:r>
              <a:rPr lang="az-Latn-AZ" dirty="0">
                <a:uFill>
                  <a:solidFill>
                    <a:srgbClr val="FFFF00"/>
                  </a:solidFill>
                </a:uFill>
                <a:latin typeface="Times New Roman" panose="02020603050405020304" pitchFamily="18" charset="0"/>
                <a:cs typeface="Times New Roman" panose="02020603050405020304" pitchFamily="18" charset="0"/>
              </a:rPr>
              <a:t> </a:t>
            </a:r>
            <a:r>
              <a:rPr lang="az-Latn-AZ" dirty="0">
                <a:latin typeface="Times New Roman" panose="02020603050405020304" pitchFamily="18" charset="0"/>
                <a:cs typeface="Times New Roman" panose="02020603050405020304" pitchFamily="18" charset="0"/>
              </a:rPr>
              <a:t>və digər məşhur şəbəkə protokolları üçün proxy və keş xidmətləri təqdim edən tam xüsusiyyətli veb proksi keş server proqramıdır. </a:t>
            </a:r>
          </a:p>
          <a:p>
            <a:pPr algn="just"/>
            <a:endParaRPr lang="az-Latn-AZ" dirty="0">
              <a:latin typeface="Times New Roman" panose="02020603050405020304" pitchFamily="18" charset="0"/>
              <a:cs typeface="Times New Roman" panose="02020603050405020304" pitchFamily="18" charset="0"/>
            </a:endParaRPr>
          </a:p>
          <a:p>
            <a:pPr algn="just"/>
            <a:endParaRPr lang="az-Latn-AZ" dirty="0">
              <a:latin typeface="Times New Roman" panose="02020603050405020304" pitchFamily="18" charset="0"/>
              <a:cs typeface="Times New Roman" panose="02020603050405020304" pitchFamily="18" charset="0"/>
            </a:endParaRPr>
          </a:p>
          <a:p>
            <a:pPr algn="just"/>
            <a:endParaRPr lang="az-Latn-AZ" dirty="0">
              <a:latin typeface="Times New Roman" panose="02020603050405020304" pitchFamily="18" charset="0"/>
              <a:cs typeface="Times New Roman" panose="02020603050405020304" pitchFamily="18" charset="0"/>
            </a:endParaRPr>
          </a:p>
          <a:p>
            <a:pPr algn="just"/>
            <a:r>
              <a:rPr lang="az-Latn-AZ" dirty="0">
                <a:latin typeface="Times New Roman" panose="02020603050405020304" pitchFamily="18" charset="0"/>
                <a:cs typeface="Times New Roman" panose="02020603050405020304" pitchFamily="18" charset="0"/>
              </a:rPr>
              <a:t>Squid Proxy </a:t>
            </a:r>
            <a:r>
              <a:rPr lang="az-Latn-AZ" u="sng" dirty="0">
                <a:uFill>
                  <a:solidFill>
                    <a:srgbClr val="FFFF00"/>
                  </a:solidFill>
                </a:uFill>
                <a:latin typeface="Times New Roman" panose="02020603050405020304" pitchFamily="18" charset="0"/>
                <a:cs typeface="Times New Roman" panose="02020603050405020304" pitchFamily="18" charset="0"/>
              </a:rPr>
              <a:t>Secure Sockets Layer (SSL)</a:t>
            </a:r>
            <a:r>
              <a:rPr lang="az-Latn-AZ" dirty="0">
                <a:latin typeface="Times New Roman" panose="02020603050405020304" pitchFamily="18" charset="0"/>
                <a:cs typeface="Times New Roman" panose="02020603050405020304" pitchFamily="18" charset="0"/>
              </a:rPr>
              <a:t> sorğularının keşləşdirilməsi və proksiləşdirilməsini, həmçinin </a:t>
            </a:r>
            <a:r>
              <a:rPr lang="az-Latn-AZ" u="sng" dirty="0">
                <a:uFill>
                  <a:solidFill>
                    <a:srgbClr val="FFFF00"/>
                  </a:solidFill>
                </a:uFill>
                <a:latin typeface="Times New Roman" panose="02020603050405020304" pitchFamily="18" charset="0"/>
                <a:cs typeface="Times New Roman" panose="02020603050405020304" pitchFamily="18" charset="0"/>
              </a:rPr>
              <a:t>Domain Name Server (DNS)</a:t>
            </a:r>
            <a:r>
              <a:rPr lang="az-Latn-AZ" dirty="0">
                <a:uFill>
                  <a:solidFill>
                    <a:srgbClr val="FFFF00"/>
                  </a:solidFill>
                </a:uFill>
                <a:latin typeface="Times New Roman" panose="02020603050405020304" pitchFamily="18" charset="0"/>
                <a:cs typeface="Times New Roman" panose="02020603050405020304" pitchFamily="18" charset="0"/>
              </a:rPr>
              <a:t> </a:t>
            </a:r>
            <a:r>
              <a:rPr lang="az-Latn-AZ" dirty="0">
                <a:latin typeface="Times New Roman" panose="02020603050405020304" pitchFamily="18" charset="0"/>
                <a:cs typeface="Times New Roman" panose="02020603050405020304" pitchFamily="18" charset="0"/>
              </a:rPr>
              <a:t>axtarışlarının da keşləşdirilməsini həyata keçirə bilər. Squid, həmçinin </a:t>
            </a:r>
            <a:r>
              <a:rPr lang="az-Latn-AZ" u="sng" dirty="0">
                <a:uFill>
                  <a:solidFill>
                    <a:srgbClr val="FFFF00"/>
                  </a:solidFill>
                </a:uFill>
                <a:latin typeface="Times New Roman" panose="02020603050405020304" pitchFamily="18" charset="0"/>
                <a:cs typeface="Times New Roman" panose="02020603050405020304" pitchFamily="18" charset="0"/>
              </a:rPr>
              <a:t>Internet Cache Protocol (ICP)</a:t>
            </a:r>
            <a:r>
              <a:rPr lang="az-Latn-AZ" dirty="0">
                <a:latin typeface="Times New Roman" panose="02020603050405020304" pitchFamily="18" charset="0"/>
                <a:cs typeface="Times New Roman" panose="02020603050405020304" pitchFamily="18" charset="0"/>
              </a:rPr>
              <a:t>, </a:t>
            </a:r>
            <a:r>
              <a:rPr lang="az-Latn-AZ" u="sng" dirty="0">
                <a:uFill>
                  <a:solidFill>
                    <a:srgbClr val="FFFF00"/>
                  </a:solidFill>
                </a:uFill>
                <a:latin typeface="Times New Roman" panose="02020603050405020304" pitchFamily="18" charset="0"/>
                <a:cs typeface="Times New Roman" panose="02020603050405020304" pitchFamily="18" charset="0"/>
              </a:rPr>
              <a:t>Hyper Text Caching Protocol (HTCP)</a:t>
            </a:r>
            <a:r>
              <a:rPr lang="az-Latn-AZ" dirty="0">
                <a:latin typeface="Times New Roman" panose="02020603050405020304" pitchFamily="18" charset="0"/>
                <a:cs typeface="Times New Roman" panose="02020603050405020304" pitchFamily="18" charset="0"/>
              </a:rPr>
              <a:t>, </a:t>
            </a:r>
            <a:r>
              <a:rPr lang="az-Latn-AZ" u="sng" dirty="0">
                <a:uFill>
                  <a:solidFill>
                    <a:srgbClr val="FFFF00"/>
                  </a:solidFill>
                </a:uFill>
                <a:latin typeface="Times New Roman" panose="02020603050405020304" pitchFamily="18" charset="0"/>
                <a:cs typeface="Times New Roman" panose="02020603050405020304" pitchFamily="18" charset="0"/>
              </a:rPr>
              <a:t>Cache Array Routing Protocol (CARP)</a:t>
            </a:r>
            <a:r>
              <a:rPr lang="az-Latn-AZ" dirty="0">
                <a:latin typeface="Times New Roman" panose="02020603050405020304" pitchFamily="18" charset="0"/>
                <a:cs typeface="Times New Roman" panose="02020603050405020304" pitchFamily="18" charset="0"/>
              </a:rPr>
              <a:t> və </a:t>
            </a:r>
            <a:r>
              <a:rPr lang="az-Latn-AZ" u="sng" dirty="0">
                <a:uFill>
                  <a:solidFill>
                    <a:srgbClr val="FFFF00"/>
                  </a:solidFill>
                </a:uFill>
                <a:latin typeface="Times New Roman" panose="02020603050405020304" pitchFamily="18" charset="0"/>
                <a:cs typeface="Times New Roman" panose="02020603050405020304" pitchFamily="18" charset="0"/>
              </a:rPr>
              <a:t>Web Cache Coordination Protocol (WCCP)</a:t>
            </a:r>
            <a:r>
              <a:rPr lang="az-Latn-AZ" dirty="0">
                <a:latin typeface="Times New Roman" panose="02020603050405020304" pitchFamily="18" charset="0"/>
                <a:cs typeface="Times New Roman" panose="02020603050405020304" pitchFamily="18" charset="0"/>
              </a:rPr>
              <a:t> kimi geniş çeşiddə keşləmə protokollarını dəstəkləyir. </a:t>
            </a:r>
          </a:p>
        </p:txBody>
      </p:sp>
      <p:sp>
        <p:nvSpPr>
          <p:cNvPr id="6" name="TextBox 5">
            <a:extLst>
              <a:ext uri="{FF2B5EF4-FFF2-40B4-BE49-F238E27FC236}">
                <a16:creationId xmlns:a16="http://schemas.microsoft.com/office/drawing/2014/main" id="{03E711DC-A10E-52DA-F948-59F56D2BE9A8}"/>
              </a:ext>
            </a:extLst>
          </p:cNvPr>
          <p:cNvSpPr txBox="1"/>
          <p:nvPr/>
        </p:nvSpPr>
        <p:spPr>
          <a:xfrm>
            <a:off x="1403427" y="711301"/>
            <a:ext cx="2413590" cy="523220"/>
          </a:xfrm>
          <a:prstGeom prst="rect">
            <a:avLst/>
          </a:prstGeom>
          <a:noFill/>
        </p:spPr>
        <p:txBody>
          <a:bodyPr wrap="square">
            <a:spAutoFit/>
          </a:bodyPr>
          <a:lstStyle/>
          <a:p>
            <a:r>
              <a:rPr lang="az-Latn-AZ" sz="28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Squid Proxy </a:t>
            </a:r>
            <a:endParaRPr lang="en-US" sz="28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sp>
        <p:nvSpPr>
          <p:cNvPr id="3" name="TextBox 2">
            <a:extLst>
              <a:ext uri="{FF2B5EF4-FFF2-40B4-BE49-F238E27FC236}">
                <a16:creationId xmlns:a16="http://schemas.microsoft.com/office/drawing/2014/main" id="{2794908B-F1A0-0251-68EA-F42759F24AB0}"/>
              </a:ext>
            </a:extLst>
          </p:cNvPr>
          <p:cNvSpPr txBox="1"/>
          <p:nvPr/>
        </p:nvSpPr>
        <p:spPr>
          <a:xfrm>
            <a:off x="1403427" y="1713029"/>
            <a:ext cx="7507308" cy="3970318"/>
          </a:xfrm>
          <a:prstGeom prst="rect">
            <a:avLst/>
          </a:prstGeom>
          <a:noFill/>
        </p:spPr>
        <p:txBody>
          <a:bodyPr wrap="square" rtlCol="0">
            <a:spAutoFit/>
          </a:bodyPr>
          <a:lstStyle/>
          <a:p>
            <a:r>
              <a:rPr lang="en-US" b="1" dirty="0"/>
              <a:t>Proxy:</a:t>
            </a:r>
            <a:r>
              <a:rPr lang="en-US" dirty="0"/>
              <a:t> </a:t>
            </a:r>
            <a:r>
              <a:rPr lang="en-US" dirty="0" err="1"/>
              <a:t>İstifadəçi</a:t>
            </a:r>
            <a:r>
              <a:rPr lang="en-US" dirty="0"/>
              <a:t> </a:t>
            </a:r>
            <a:r>
              <a:rPr lang="en-US" dirty="0" err="1"/>
              <a:t>ilə</a:t>
            </a:r>
            <a:r>
              <a:rPr lang="en-US" dirty="0"/>
              <a:t> internet/server </a:t>
            </a:r>
            <a:r>
              <a:rPr lang="en-US" dirty="0" err="1"/>
              <a:t>arasında</a:t>
            </a:r>
            <a:r>
              <a:rPr lang="en-US" dirty="0"/>
              <a:t> </a:t>
            </a:r>
            <a:r>
              <a:rPr lang="en-US" dirty="0" err="1"/>
              <a:t>vasitəçi</a:t>
            </a:r>
            <a:r>
              <a:rPr lang="en-US" dirty="0"/>
              <a:t> </a:t>
            </a:r>
            <a:r>
              <a:rPr lang="en-US" dirty="0" err="1"/>
              <a:t>kimi</a:t>
            </a:r>
            <a:r>
              <a:rPr lang="en-US" dirty="0"/>
              <a:t> </a:t>
            </a:r>
            <a:r>
              <a:rPr lang="en-US" dirty="0" err="1"/>
              <a:t>işləyir</a:t>
            </a:r>
            <a:r>
              <a:rPr lang="en-US" dirty="0"/>
              <a:t> </a:t>
            </a:r>
            <a:r>
              <a:rPr lang="en-US" dirty="0" err="1"/>
              <a:t>və</a:t>
            </a:r>
            <a:r>
              <a:rPr lang="en-US" dirty="0"/>
              <a:t> </a:t>
            </a:r>
            <a:r>
              <a:rPr lang="en-US" dirty="0" err="1"/>
              <a:t>sorğuları</a:t>
            </a:r>
            <a:r>
              <a:rPr lang="en-US" dirty="0"/>
              <a:t> </a:t>
            </a:r>
            <a:r>
              <a:rPr lang="en-US" dirty="0" err="1"/>
              <a:t>onun</a:t>
            </a:r>
            <a:r>
              <a:rPr lang="en-US" dirty="0"/>
              <a:t> </a:t>
            </a:r>
            <a:r>
              <a:rPr lang="en-US" dirty="0" err="1"/>
              <a:t>adından</a:t>
            </a:r>
            <a:r>
              <a:rPr lang="en-US" dirty="0"/>
              <a:t> </a:t>
            </a:r>
            <a:r>
              <a:rPr lang="en-US" dirty="0" err="1"/>
              <a:t>ötürür</a:t>
            </a:r>
            <a:r>
              <a:rPr lang="en-US" dirty="0"/>
              <a:t>. </a:t>
            </a:r>
            <a:br>
              <a:rPr lang="az-Latn-AZ" dirty="0"/>
            </a:br>
            <a:endParaRPr lang="en-US" dirty="0"/>
          </a:p>
          <a:p>
            <a:r>
              <a:rPr lang="en-US" b="1" dirty="0"/>
              <a:t>Squid Proxy:</a:t>
            </a:r>
            <a:r>
              <a:rPr lang="en-US" dirty="0"/>
              <a:t> </a:t>
            </a:r>
            <a:r>
              <a:rPr lang="en-US" dirty="0" err="1"/>
              <a:t>Əsasən</a:t>
            </a:r>
            <a:r>
              <a:rPr lang="en-US" dirty="0"/>
              <a:t> </a:t>
            </a:r>
            <a:r>
              <a:rPr lang="en-US" b="1" dirty="0"/>
              <a:t>HTTP/HTTPS proxy</a:t>
            </a:r>
            <a:r>
              <a:rPr lang="en-US" dirty="0"/>
              <a:t> </a:t>
            </a:r>
            <a:r>
              <a:rPr lang="en-US" dirty="0" err="1"/>
              <a:t>kimi</a:t>
            </a:r>
            <a:r>
              <a:rPr lang="en-US" dirty="0"/>
              <a:t> </a:t>
            </a:r>
            <a:r>
              <a:rPr lang="en-US" dirty="0" err="1"/>
              <a:t>istifadə</a:t>
            </a:r>
            <a:r>
              <a:rPr lang="en-US" dirty="0"/>
              <a:t> </a:t>
            </a:r>
            <a:r>
              <a:rPr lang="en-US" dirty="0" err="1"/>
              <a:t>olunan</a:t>
            </a:r>
            <a:r>
              <a:rPr lang="en-US" dirty="0"/>
              <a:t> </a:t>
            </a:r>
            <a:r>
              <a:rPr lang="en-US" dirty="0" err="1"/>
              <a:t>açıq</a:t>
            </a:r>
            <a:r>
              <a:rPr lang="en-US" dirty="0"/>
              <a:t> </a:t>
            </a:r>
            <a:r>
              <a:rPr lang="en-US" dirty="0" err="1"/>
              <a:t>mənbəli</a:t>
            </a:r>
            <a:r>
              <a:rPr lang="en-US" dirty="0"/>
              <a:t> proxy </a:t>
            </a:r>
            <a:r>
              <a:rPr lang="en-US" dirty="0" err="1"/>
              <a:t>serverdir</a:t>
            </a:r>
            <a:r>
              <a:rPr lang="en-US" dirty="0"/>
              <a:t>; </a:t>
            </a:r>
            <a:r>
              <a:rPr lang="en-US" dirty="0" err="1"/>
              <a:t>keşləmə</a:t>
            </a:r>
            <a:r>
              <a:rPr lang="en-US" dirty="0"/>
              <a:t>, </a:t>
            </a:r>
            <a:r>
              <a:rPr lang="en-US" dirty="0" err="1"/>
              <a:t>girişə</a:t>
            </a:r>
            <a:r>
              <a:rPr lang="en-US" dirty="0"/>
              <a:t> </a:t>
            </a:r>
            <a:r>
              <a:rPr lang="en-US" dirty="0" err="1"/>
              <a:t>nəzarət</a:t>
            </a:r>
            <a:r>
              <a:rPr lang="en-US" dirty="0"/>
              <a:t> </a:t>
            </a:r>
            <a:r>
              <a:rPr lang="en-US" dirty="0" err="1"/>
              <a:t>və</a:t>
            </a:r>
            <a:r>
              <a:rPr lang="en-US" dirty="0"/>
              <a:t> </a:t>
            </a:r>
            <a:r>
              <a:rPr lang="en-US" dirty="0" err="1"/>
              <a:t>trafik</a:t>
            </a:r>
            <a:r>
              <a:rPr lang="en-US" dirty="0"/>
              <a:t> </a:t>
            </a:r>
            <a:r>
              <a:rPr lang="en-US" dirty="0" err="1"/>
              <a:t>monitorinqi</a:t>
            </a:r>
            <a:r>
              <a:rPr lang="en-US" dirty="0"/>
              <a:t> </a:t>
            </a:r>
            <a:r>
              <a:rPr lang="en-US" dirty="0" err="1"/>
              <a:t>imkanları</a:t>
            </a:r>
            <a:r>
              <a:rPr lang="en-US" dirty="0"/>
              <a:t> </a:t>
            </a:r>
            <a:r>
              <a:rPr lang="en-US" dirty="0" err="1"/>
              <a:t>verir</a:t>
            </a:r>
            <a:r>
              <a:rPr lang="en-US" dirty="0"/>
              <a:t>. </a:t>
            </a:r>
          </a:p>
          <a:p>
            <a:br>
              <a:rPr lang="az-Latn-AZ" b="1" dirty="0"/>
            </a:br>
            <a:r>
              <a:rPr lang="en-US" b="1" dirty="0"/>
              <a:t>Reverse Proxy:</a:t>
            </a:r>
            <a:r>
              <a:rPr lang="en-US" dirty="0"/>
              <a:t> </a:t>
            </a:r>
            <a:r>
              <a:rPr lang="en-US" dirty="0" err="1"/>
              <a:t>İstifadəçinin</a:t>
            </a:r>
            <a:r>
              <a:rPr lang="en-US" dirty="0"/>
              <a:t> </a:t>
            </a:r>
            <a:r>
              <a:rPr lang="en-US" dirty="0" err="1"/>
              <a:t>qarşısında</a:t>
            </a:r>
            <a:r>
              <a:rPr lang="en-US" dirty="0"/>
              <a:t> </a:t>
            </a:r>
            <a:r>
              <a:rPr lang="en-US" dirty="0" err="1"/>
              <a:t>deyil</a:t>
            </a:r>
            <a:r>
              <a:rPr lang="en-US" dirty="0"/>
              <a:t>, </a:t>
            </a:r>
            <a:r>
              <a:rPr lang="en-US" b="1" dirty="0" err="1"/>
              <a:t>serverlərin</a:t>
            </a:r>
            <a:r>
              <a:rPr lang="en-US" b="1" dirty="0"/>
              <a:t> </a:t>
            </a:r>
            <a:r>
              <a:rPr lang="en-US" b="1" dirty="0" err="1"/>
              <a:t>qarşısında</a:t>
            </a:r>
            <a:r>
              <a:rPr lang="en-US" dirty="0"/>
              <a:t> </a:t>
            </a:r>
            <a:r>
              <a:rPr lang="en-US" dirty="0" err="1"/>
              <a:t>yerləşir</a:t>
            </a:r>
            <a:r>
              <a:rPr lang="en-US" dirty="0"/>
              <a:t> </a:t>
            </a:r>
            <a:r>
              <a:rPr lang="en-US" dirty="0" err="1"/>
              <a:t>və</a:t>
            </a:r>
            <a:r>
              <a:rPr lang="en-US" dirty="0"/>
              <a:t> </a:t>
            </a:r>
            <a:r>
              <a:rPr lang="en-US" dirty="0" err="1"/>
              <a:t>gələn</a:t>
            </a:r>
            <a:r>
              <a:rPr lang="en-US" dirty="0"/>
              <a:t> </a:t>
            </a:r>
            <a:r>
              <a:rPr lang="en-US" dirty="0" err="1"/>
              <a:t>sorğuları</a:t>
            </a:r>
            <a:r>
              <a:rPr lang="en-US" dirty="0"/>
              <a:t> </a:t>
            </a:r>
            <a:r>
              <a:rPr lang="en-US" dirty="0" err="1"/>
              <a:t>daxili</a:t>
            </a:r>
            <a:r>
              <a:rPr lang="en-US" dirty="0"/>
              <a:t> </a:t>
            </a:r>
            <a:r>
              <a:rPr lang="en-US" dirty="0" err="1"/>
              <a:t>serverlərə</a:t>
            </a:r>
            <a:r>
              <a:rPr lang="en-US" dirty="0"/>
              <a:t> </a:t>
            </a:r>
            <a:r>
              <a:rPr lang="en-US" dirty="0" err="1"/>
              <a:t>yönləndirir</a:t>
            </a:r>
            <a:r>
              <a:rPr lang="en-US" dirty="0"/>
              <a:t>. </a:t>
            </a:r>
          </a:p>
          <a:p>
            <a:br>
              <a:rPr lang="az-Latn-AZ" b="1" dirty="0"/>
            </a:br>
            <a:r>
              <a:rPr lang="en-US" b="1" dirty="0"/>
              <a:t>VPN:</a:t>
            </a:r>
            <a:r>
              <a:rPr lang="en-US" dirty="0"/>
              <a:t> </a:t>
            </a:r>
            <a:r>
              <a:rPr lang="en-US" dirty="0" err="1"/>
              <a:t>Cihaz</a:t>
            </a:r>
            <a:r>
              <a:rPr lang="en-US" dirty="0"/>
              <a:t> </a:t>
            </a:r>
            <a:r>
              <a:rPr lang="en-US" dirty="0" err="1"/>
              <a:t>ilə</a:t>
            </a:r>
            <a:r>
              <a:rPr lang="en-US" dirty="0"/>
              <a:t> VPN </a:t>
            </a:r>
            <a:r>
              <a:rPr lang="en-US" dirty="0" err="1"/>
              <a:t>serveri</a:t>
            </a:r>
            <a:r>
              <a:rPr lang="en-US" dirty="0"/>
              <a:t> </a:t>
            </a:r>
            <a:r>
              <a:rPr lang="en-US" dirty="0" err="1"/>
              <a:t>arasında</a:t>
            </a:r>
            <a:r>
              <a:rPr lang="en-US" dirty="0"/>
              <a:t> </a:t>
            </a:r>
            <a:r>
              <a:rPr lang="en-US" b="1" dirty="0" err="1"/>
              <a:t>şifrəli</a:t>
            </a:r>
            <a:r>
              <a:rPr lang="en-US" b="1" dirty="0"/>
              <a:t> </a:t>
            </a:r>
            <a:r>
              <a:rPr lang="en-US" b="1" dirty="0" err="1"/>
              <a:t>tunel</a:t>
            </a:r>
            <a:r>
              <a:rPr lang="en-US" dirty="0"/>
              <a:t> </a:t>
            </a:r>
            <a:r>
              <a:rPr lang="en-US" dirty="0" err="1"/>
              <a:t>yaradır</a:t>
            </a:r>
            <a:r>
              <a:rPr lang="en-US" dirty="0"/>
              <a:t> </a:t>
            </a:r>
            <a:r>
              <a:rPr lang="en-US" dirty="0" err="1"/>
              <a:t>və</a:t>
            </a:r>
            <a:r>
              <a:rPr lang="en-US" dirty="0"/>
              <a:t> </a:t>
            </a:r>
            <a:r>
              <a:rPr lang="en-US" dirty="0" err="1"/>
              <a:t>cihazın</a:t>
            </a:r>
            <a:r>
              <a:rPr lang="en-US" dirty="0"/>
              <a:t> </a:t>
            </a:r>
            <a:r>
              <a:rPr lang="en-US" dirty="0" err="1"/>
              <a:t>şəbəkə</a:t>
            </a:r>
            <a:r>
              <a:rPr lang="en-US" dirty="0"/>
              <a:t> </a:t>
            </a:r>
            <a:r>
              <a:rPr lang="en-US" dirty="0" err="1"/>
              <a:t>bağlantısını</a:t>
            </a:r>
            <a:r>
              <a:rPr lang="en-US" dirty="0"/>
              <a:t> </a:t>
            </a:r>
            <a:r>
              <a:rPr lang="en-US" dirty="0" err="1"/>
              <a:t>həmin</a:t>
            </a:r>
            <a:r>
              <a:rPr lang="en-US" dirty="0"/>
              <a:t> </a:t>
            </a:r>
            <a:r>
              <a:rPr lang="en-US" dirty="0" err="1"/>
              <a:t>tunel</a:t>
            </a:r>
            <a:r>
              <a:rPr lang="en-US" dirty="0"/>
              <a:t> </a:t>
            </a:r>
            <a:r>
              <a:rPr lang="en-US" dirty="0" err="1"/>
              <a:t>üzərindən</a:t>
            </a:r>
            <a:r>
              <a:rPr lang="en-US" dirty="0"/>
              <a:t> </a:t>
            </a:r>
            <a:r>
              <a:rPr lang="en-US" dirty="0" err="1"/>
              <a:t>keçirir</a:t>
            </a:r>
            <a:r>
              <a:rPr lang="en-US" dirty="0"/>
              <a:t>. </a:t>
            </a:r>
          </a:p>
          <a:p>
            <a:br>
              <a:rPr lang="az-Latn-AZ" b="1" dirty="0"/>
            </a:br>
            <a:r>
              <a:rPr lang="en-US" b="1" dirty="0" err="1"/>
              <a:t>Əsas</a:t>
            </a:r>
            <a:r>
              <a:rPr lang="en-US" b="1" dirty="0"/>
              <a:t> </a:t>
            </a:r>
            <a:r>
              <a:rPr lang="en-US" b="1" dirty="0" err="1"/>
              <a:t>fərq</a:t>
            </a:r>
            <a:r>
              <a:rPr lang="en-US" b="1" dirty="0"/>
              <a:t>:</a:t>
            </a:r>
            <a:r>
              <a:rPr lang="en-US" dirty="0"/>
              <a:t> Proxy </a:t>
            </a:r>
            <a:r>
              <a:rPr lang="en-US" dirty="0" err="1"/>
              <a:t>əsasən</a:t>
            </a:r>
            <a:r>
              <a:rPr lang="en-US" dirty="0"/>
              <a:t> </a:t>
            </a:r>
            <a:r>
              <a:rPr lang="en-US" dirty="0" err="1"/>
              <a:t>müəyyən</a:t>
            </a:r>
            <a:r>
              <a:rPr lang="en-US" dirty="0"/>
              <a:t> </a:t>
            </a:r>
            <a:r>
              <a:rPr lang="en-US" dirty="0" err="1"/>
              <a:t>trafik</a:t>
            </a:r>
            <a:r>
              <a:rPr lang="en-US" dirty="0"/>
              <a:t>/</a:t>
            </a:r>
            <a:r>
              <a:rPr lang="en-US" dirty="0" err="1"/>
              <a:t>sorğular</a:t>
            </a:r>
            <a:r>
              <a:rPr lang="en-US" dirty="0"/>
              <a:t> </a:t>
            </a:r>
            <a:r>
              <a:rPr lang="en-US" dirty="0" err="1"/>
              <a:t>üçün</a:t>
            </a:r>
            <a:r>
              <a:rPr lang="en-US" dirty="0"/>
              <a:t> </a:t>
            </a:r>
            <a:r>
              <a:rPr lang="en-US" dirty="0" err="1"/>
              <a:t>vasitəçi</a:t>
            </a:r>
            <a:r>
              <a:rPr lang="en-US" dirty="0"/>
              <a:t> </a:t>
            </a:r>
            <a:r>
              <a:rPr lang="en-US" dirty="0" err="1"/>
              <a:t>rolunu</a:t>
            </a:r>
            <a:r>
              <a:rPr lang="en-US" dirty="0"/>
              <a:t> </a:t>
            </a:r>
            <a:r>
              <a:rPr lang="en-US" dirty="0" err="1"/>
              <a:t>oynayır</a:t>
            </a:r>
            <a:r>
              <a:rPr lang="en-US" dirty="0"/>
              <a:t>, </a:t>
            </a:r>
            <a:r>
              <a:rPr lang="en-US" b="1" dirty="0"/>
              <a:t>VPN </a:t>
            </a:r>
            <a:r>
              <a:rPr lang="en-US" b="1" dirty="0" err="1"/>
              <a:t>isə</a:t>
            </a:r>
            <a:r>
              <a:rPr lang="en-US" b="1" dirty="0"/>
              <a:t> </a:t>
            </a:r>
            <a:r>
              <a:rPr lang="en-US" b="1" dirty="0" err="1"/>
              <a:t>cihazın</a:t>
            </a:r>
            <a:r>
              <a:rPr lang="en-US" b="1" dirty="0"/>
              <a:t> </a:t>
            </a:r>
            <a:r>
              <a:rPr lang="en-US" b="1" dirty="0" err="1"/>
              <a:t>şəbəkə</a:t>
            </a:r>
            <a:r>
              <a:rPr lang="en-US" b="1" dirty="0"/>
              <a:t> </a:t>
            </a:r>
            <a:r>
              <a:rPr lang="en-US" b="1" dirty="0" err="1"/>
              <a:t>bağlantısını</a:t>
            </a:r>
            <a:r>
              <a:rPr lang="en-US" b="1" dirty="0"/>
              <a:t> </a:t>
            </a:r>
            <a:r>
              <a:rPr lang="en-US" b="1" dirty="0" err="1"/>
              <a:t>tunelləyir</a:t>
            </a:r>
            <a:r>
              <a:rPr lang="en-US" b="1" dirty="0"/>
              <a:t> </a:t>
            </a:r>
            <a:r>
              <a:rPr lang="en-US" b="1" dirty="0" err="1"/>
              <a:t>və</a:t>
            </a:r>
            <a:r>
              <a:rPr lang="en-US" b="1" dirty="0"/>
              <a:t> </a:t>
            </a:r>
            <a:r>
              <a:rPr lang="en-US" b="1" dirty="0" err="1"/>
              <a:t>şifrələyir</a:t>
            </a:r>
            <a:r>
              <a:rPr lang="en-US" dirty="0"/>
              <a:t>.</a:t>
            </a:r>
          </a:p>
        </p:txBody>
      </p:sp>
      <p:sp>
        <p:nvSpPr>
          <p:cNvPr id="4" name="TextBox 3">
            <a:extLst>
              <a:ext uri="{FF2B5EF4-FFF2-40B4-BE49-F238E27FC236}">
                <a16:creationId xmlns:a16="http://schemas.microsoft.com/office/drawing/2014/main" id="{6F9B7DF8-7BB5-A819-DFEF-01CC6A65FFAC}"/>
              </a:ext>
            </a:extLst>
          </p:cNvPr>
          <p:cNvSpPr txBox="1"/>
          <p:nvPr/>
        </p:nvSpPr>
        <p:spPr>
          <a:xfrm>
            <a:off x="1403426" y="711301"/>
            <a:ext cx="6947471" cy="523220"/>
          </a:xfrm>
          <a:prstGeom prst="rect">
            <a:avLst/>
          </a:prstGeom>
          <a:noFill/>
        </p:spPr>
        <p:txBody>
          <a:bodyPr wrap="square">
            <a:spAutoFit/>
          </a:bodyPr>
          <a:lstStyle/>
          <a:p>
            <a:r>
              <a:rPr lang="az-Latn-AZ" sz="2800" b="1" u="sng">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Proxy, Squid Proxy, Reverse Proxy və VPN</a:t>
            </a:r>
            <a:endParaRPr lang="en-US" sz="28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098" name="Picture 2" descr="Proxy server - Free technology icons">
            <a:extLst>
              <a:ext uri="{FF2B5EF4-FFF2-40B4-BE49-F238E27FC236}">
                <a16:creationId xmlns:a16="http://schemas.microsoft.com/office/drawing/2014/main" id="{C5548103-E720-EB55-D531-5C5100AED7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398" y="1713029"/>
            <a:ext cx="548028" cy="54802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Reverse Proxy Icon - Download SVG, PNG for Cyber Security | IconScout">
            <a:extLst>
              <a:ext uri="{FF2B5EF4-FFF2-40B4-BE49-F238E27FC236}">
                <a16:creationId xmlns:a16="http://schemas.microsoft.com/office/drawing/2014/main" id="{9A12C460-2E6E-303D-940F-2A1AC32950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5893" y="3487049"/>
            <a:ext cx="487037" cy="4870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quid logo | Squid Web Cache wiki">
            <a:extLst>
              <a:ext uri="{FF2B5EF4-FFF2-40B4-BE49-F238E27FC236}">
                <a16:creationId xmlns:a16="http://schemas.microsoft.com/office/drawing/2014/main" id="{86F12697-D258-916E-9C2D-D8FB2E307B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5398" y="2570482"/>
            <a:ext cx="525667" cy="605258"/>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Vpn - Free security icons">
            <a:extLst>
              <a:ext uri="{FF2B5EF4-FFF2-40B4-BE49-F238E27FC236}">
                <a16:creationId xmlns:a16="http://schemas.microsoft.com/office/drawing/2014/main" id="{71B35EF8-04E7-1706-FDFF-5DB1902B1E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5398" y="4194828"/>
            <a:ext cx="548028" cy="5480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pic>
        <p:nvPicPr>
          <p:cNvPr id="6" name="Picture 5">
            <a:extLst>
              <a:ext uri="{FF2B5EF4-FFF2-40B4-BE49-F238E27FC236}">
                <a16:creationId xmlns:a16="http://schemas.microsoft.com/office/drawing/2014/main" id="{D35CD1A3-5047-4DBF-46EC-68FC349B2C25}"/>
              </a:ext>
            </a:extLst>
          </p:cNvPr>
          <p:cNvPicPr>
            <a:picLocks noChangeAspect="1"/>
          </p:cNvPicPr>
          <p:nvPr/>
        </p:nvPicPr>
        <p:blipFill>
          <a:blip r:embed="rId3"/>
          <a:stretch>
            <a:fillRect/>
          </a:stretch>
        </p:blipFill>
        <p:spPr>
          <a:xfrm>
            <a:off x="1633635" y="1617791"/>
            <a:ext cx="6629400" cy="4219575"/>
          </a:xfrm>
          <a:prstGeom prst="rect">
            <a:avLst/>
          </a:prstGeom>
          <a:ln>
            <a:noFill/>
          </a:ln>
          <a:effectLst>
            <a:softEdge rad="112500"/>
          </a:effectLst>
        </p:spPr>
      </p:pic>
      <p:sp>
        <p:nvSpPr>
          <p:cNvPr id="7" name="TextBox 6">
            <a:extLst>
              <a:ext uri="{FF2B5EF4-FFF2-40B4-BE49-F238E27FC236}">
                <a16:creationId xmlns:a16="http://schemas.microsoft.com/office/drawing/2014/main" id="{199560AC-9F12-30DE-53A1-2CD8F5C4158C}"/>
              </a:ext>
            </a:extLst>
          </p:cNvPr>
          <p:cNvSpPr txBox="1"/>
          <p:nvPr/>
        </p:nvSpPr>
        <p:spPr>
          <a:xfrm>
            <a:off x="1403427" y="711301"/>
            <a:ext cx="2413590" cy="523220"/>
          </a:xfrm>
          <a:prstGeom prst="rect">
            <a:avLst/>
          </a:prstGeom>
          <a:noFill/>
        </p:spPr>
        <p:txBody>
          <a:bodyPr wrap="square">
            <a:spAutoFit/>
          </a:bodyPr>
          <a:lstStyle/>
          <a:p>
            <a:r>
              <a:rPr lang="az-Latn-AZ" sz="28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Squid Proxy </a:t>
            </a:r>
            <a:endParaRPr lang="en-US" sz="28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sp>
        <p:nvSpPr>
          <p:cNvPr id="3" name="TextBox 2">
            <a:extLst>
              <a:ext uri="{FF2B5EF4-FFF2-40B4-BE49-F238E27FC236}">
                <a16:creationId xmlns:a16="http://schemas.microsoft.com/office/drawing/2014/main" id="{07C46DE5-D80F-25F4-9667-896871777525}"/>
              </a:ext>
            </a:extLst>
          </p:cNvPr>
          <p:cNvSpPr txBox="1"/>
          <p:nvPr/>
        </p:nvSpPr>
        <p:spPr>
          <a:xfrm>
            <a:off x="1300867" y="1356600"/>
            <a:ext cx="6816766" cy="2031325"/>
          </a:xfrm>
          <a:prstGeom prst="rect">
            <a:avLst/>
          </a:prstGeom>
          <a:noFill/>
        </p:spPr>
        <p:txBody>
          <a:bodyPr wrap="square">
            <a:spAutoFit/>
          </a:bodyPr>
          <a:lstStyle/>
          <a:p>
            <a:pPr algn="just"/>
            <a:r>
              <a:rPr lang="az-Latn-AZ" b="1" dirty="0">
                <a:latin typeface="Times New Roman" panose="02020603050405020304" pitchFamily="18" charset="0"/>
                <a:cs typeface="Times New Roman" panose="02020603050405020304" pitchFamily="18" charset="0"/>
              </a:rPr>
              <a:t>Squid proxy </a:t>
            </a:r>
            <a:r>
              <a:rPr lang="az-Latn-AZ" dirty="0">
                <a:latin typeface="Times New Roman" panose="02020603050405020304" pitchFamily="18" charset="0"/>
                <a:cs typeface="Times New Roman" panose="02020603050405020304" pitchFamily="18" charset="0"/>
              </a:rPr>
              <a:t>müxtəlif proksi və keş server ehtiyacları üçün əla həldir və filialdan korporativ səviyyəli şəbəkələrə qədər genişlənir, eyni zamanda </a:t>
            </a:r>
            <a:r>
              <a:rPr lang="az-Latn-AZ" u="sng" dirty="0">
                <a:uFill>
                  <a:solidFill>
                    <a:srgbClr val="FFFF00"/>
                  </a:solidFill>
                </a:uFill>
                <a:latin typeface="Times New Roman" panose="02020603050405020304" pitchFamily="18" charset="0"/>
                <a:cs typeface="Times New Roman" panose="02020603050405020304" pitchFamily="18" charset="0"/>
              </a:rPr>
              <a:t>Simple Network Management Protocol (SNMP)</a:t>
            </a:r>
            <a:r>
              <a:rPr lang="az-Latn-AZ" dirty="0">
                <a:latin typeface="Times New Roman" panose="02020603050405020304" pitchFamily="18" charset="0"/>
                <a:cs typeface="Times New Roman" panose="02020603050405020304" pitchFamily="18" charset="0"/>
              </a:rPr>
              <a:t> vasitəsilə geniş girişə ma</a:t>
            </a:r>
            <a:r>
              <a:rPr lang="en-US" dirty="0">
                <a:latin typeface="Times New Roman" panose="02020603050405020304" pitchFamily="18" charset="0"/>
                <a:cs typeface="Times New Roman" panose="02020603050405020304" pitchFamily="18" charset="0"/>
              </a:rPr>
              <a:t>li</a:t>
            </a:r>
            <a:r>
              <a:rPr lang="az-Latn-AZ" dirty="0">
                <a:latin typeface="Times New Roman" panose="02020603050405020304" pitchFamily="18" charset="0"/>
                <a:cs typeface="Times New Roman" panose="02020603050405020304" pitchFamily="18" charset="0"/>
              </a:rPr>
              <a:t>k nəzarət mexanizmləri və kritik parametrlərin monitorinqini təmin edir. Bir çox istifadəçilər üçün xüsusi Squid </a:t>
            </a:r>
            <a:r>
              <a:rPr lang="en-US" dirty="0">
                <a:latin typeface="Times New Roman" panose="02020603050405020304" pitchFamily="18" charset="0"/>
                <a:cs typeface="Times New Roman" panose="02020603050405020304" pitchFamily="18" charset="0"/>
              </a:rPr>
              <a:t>proxy</a:t>
            </a:r>
            <a:r>
              <a:rPr lang="az-Latn-AZ" dirty="0">
                <a:latin typeface="Times New Roman" panose="02020603050405020304" pitchFamily="18" charset="0"/>
                <a:cs typeface="Times New Roman" panose="02020603050405020304" pitchFamily="18" charset="0"/>
              </a:rPr>
              <a:t> serveri kimi istifadə üçün kompüter sistemi</a:t>
            </a:r>
            <a:r>
              <a:rPr lang="en-US" dirty="0">
                <a:latin typeface="Times New Roman" panose="02020603050405020304" pitchFamily="18" charset="0"/>
                <a:cs typeface="Times New Roman" panose="02020603050405020304" pitchFamily="18" charset="0"/>
              </a:rPr>
              <a:t> </a:t>
            </a:r>
            <a:r>
              <a:rPr lang="az-Latn-AZ" dirty="0">
                <a:latin typeface="Times New Roman" panose="02020603050405020304" pitchFamily="18" charset="0"/>
                <a:cs typeface="Times New Roman" panose="02020603050405020304" pitchFamily="18" charset="0"/>
              </a:rPr>
              <a:t>seçilərkən bəzi nüanslar diqqətə alınır, çünki Squid artan performans üçün yaddaşdaxili keş saxlayır. </a:t>
            </a:r>
            <a:endParaRPr lang="en-US" dirty="0"/>
          </a:p>
        </p:txBody>
      </p:sp>
      <p:pic>
        <p:nvPicPr>
          <p:cNvPr id="4" name="Picture 3">
            <a:extLst>
              <a:ext uri="{FF2B5EF4-FFF2-40B4-BE49-F238E27FC236}">
                <a16:creationId xmlns:a16="http://schemas.microsoft.com/office/drawing/2014/main" id="{BE344AC8-C0D4-0025-1E14-7BD620D431B2}"/>
              </a:ext>
            </a:extLst>
          </p:cNvPr>
          <p:cNvPicPr>
            <a:picLocks noChangeAspect="1"/>
          </p:cNvPicPr>
          <p:nvPr/>
        </p:nvPicPr>
        <p:blipFill rotWithShape="1">
          <a:blip r:embed="rId3"/>
          <a:srcRect l="20046" t="29859" r="20375" b="30993"/>
          <a:stretch/>
        </p:blipFill>
        <p:spPr>
          <a:xfrm>
            <a:off x="3209603" y="3868705"/>
            <a:ext cx="4908030" cy="2176203"/>
          </a:xfrm>
          <a:prstGeom prst="rect">
            <a:avLst/>
          </a:prstGeom>
          <a:ln>
            <a:noFill/>
          </a:ln>
          <a:effectLst>
            <a:softEdge rad="112500"/>
          </a:effectLst>
        </p:spPr>
      </p:pic>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pic>
        <p:nvPicPr>
          <p:cNvPr id="3" name="Picture 2" descr="Squid Proxy Server - Webmin Documentation">
            <a:extLst>
              <a:ext uri="{FF2B5EF4-FFF2-40B4-BE49-F238E27FC236}">
                <a16:creationId xmlns:a16="http://schemas.microsoft.com/office/drawing/2014/main" id="{295CC8E5-2772-D35D-BB21-710A46974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4138" y="1479836"/>
            <a:ext cx="7614629" cy="36566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pic>
        <p:nvPicPr>
          <p:cNvPr id="3" name="Picture 4" descr="How To Install And Configure Squid Proxy On Ubuntu And Debian | Unixmen">
            <a:extLst>
              <a:ext uri="{FF2B5EF4-FFF2-40B4-BE49-F238E27FC236}">
                <a16:creationId xmlns:a16="http://schemas.microsoft.com/office/drawing/2014/main" id="{AF47C124-8C9D-5E63-2235-2FAD9513B3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771" b="6643"/>
          <a:stretch/>
        </p:blipFill>
        <p:spPr bwMode="auto">
          <a:xfrm>
            <a:off x="652123" y="1495035"/>
            <a:ext cx="7773937" cy="42237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D7580C7-EBD8-345C-687F-BB82D4FA5759}"/>
              </a:ext>
            </a:extLst>
          </p:cNvPr>
          <p:cNvSpPr txBox="1"/>
          <p:nvPr/>
        </p:nvSpPr>
        <p:spPr>
          <a:xfrm>
            <a:off x="1550761" y="224298"/>
            <a:ext cx="2573079" cy="523220"/>
          </a:xfrm>
          <a:prstGeom prst="rect">
            <a:avLst/>
          </a:prstGeom>
          <a:noFill/>
        </p:spPr>
        <p:txBody>
          <a:bodyPr wrap="square" rtlCol="0">
            <a:spAutoFit/>
          </a:bodyPr>
          <a:lstStyle/>
          <a:p>
            <a:r>
              <a:rPr lang="az-Latn-AZ" sz="28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Quraşdırma</a:t>
            </a:r>
            <a:r>
              <a:rPr lang="az-Latn-AZ" sz="28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US" sz="28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E1E83F7-0E52-FC9A-C255-2480D4EF7199}"/>
              </a:ext>
            </a:extLst>
          </p:cNvPr>
          <p:cNvSpPr txBox="1"/>
          <p:nvPr/>
        </p:nvSpPr>
        <p:spPr>
          <a:xfrm>
            <a:off x="5956581" y="2139882"/>
            <a:ext cx="3599737" cy="923330"/>
          </a:xfrm>
          <a:prstGeom prst="rect">
            <a:avLst/>
          </a:prstGeom>
          <a:ln w="19050"/>
        </p:spPr>
        <p:style>
          <a:lnRef idx="3">
            <a:schemeClr val="lt1"/>
          </a:lnRef>
          <a:fillRef idx="1">
            <a:schemeClr val="accent3"/>
          </a:fillRef>
          <a:effectRef idx="1">
            <a:schemeClr val="accent3"/>
          </a:effectRef>
          <a:fontRef idx="minor">
            <a:schemeClr val="lt1"/>
          </a:fontRef>
        </p:style>
        <p:txBody>
          <a:bodyPr wrap="square">
            <a:spAutoFit/>
          </a:bodyPr>
          <a:lstStyle/>
          <a:p>
            <a:pPr algn="just"/>
            <a:r>
              <a:rPr lang="az-Latn-AZ"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Terminal sorğusunda Squid serverini quraşdırmaq üçün göstərilən əmri daxil etmək lazımdır:</a:t>
            </a:r>
          </a:p>
        </p:txBody>
      </p:sp>
      <p:pic>
        <p:nvPicPr>
          <p:cNvPr id="6" name="Picture 5">
            <a:extLst>
              <a:ext uri="{FF2B5EF4-FFF2-40B4-BE49-F238E27FC236}">
                <a16:creationId xmlns:a16="http://schemas.microsoft.com/office/drawing/2014/main" id="{F2F48A87-0C62-E7B3-4A85-7EE0ACC23A0D}"/>
              </a:ext>
            </a:extLst>
          </p:cNvPr>
          <p:cNvPicPr>
            <a:picLocks noChangeAspect="1"/>
          </p:cNvPicPr>
          <p:nvPr/>
        </p:nvPicPr>
        <p:blipFill rotWithShape="1">
          <a:blip r:embed="rId4"/>
          <a:srcRect l="1564" t="16881" r="4771" b="17682"/>
          <a:stretch/>
        </p:blipFill>
        <p:spPr>
          <a:xfrm>
            <a:off x="6969062" y="3063212"/>
            <a:ext cx="2587256" cy="361507"/>
          </a:xfrm>
          <a:prstGeom prst="rect">
            <a:avLst/>
          </a:prstGeom>
        </p:spPr>
      </p:pic>
      <p:sp>
        <p:nvSpPr>
          <p:cNvPr id="7" name="TextBox 6">
            <a:extLst>
              <a:ext uri="{FF2B5EF4-FFF2-40B4-BE49-F238E27FC236}">
                <a16:creationId xmlns:a16="http://schemas.microsoft.com/office/drawing/2014/main" id="{F10D3701-19C3-207D-B531-E96422648109}"/>
              </a:ext>
            </a:extLst>
          </p:cNvPr>
          <p:cNvSpPr txBox="1"/>
          <p:nvPr/>
        </p:nvSpPr>
        <p:spPr>
          <a:xfrm>
            <a:off x="947085" y="5166101"/>
            <a:ext cx="7184012" cy="369332"/>
          </a:xfrm>
          <a:prstGeom prst="rect">
            <a:avLst/>
          </a:prstGeom>
          <a:ln w="19050"/>
        </p:spPr>
        <p:style>
          <a:lnRef idx="3">
            <a:schemeClr val="lt1"/>
          </a:lnRef>
          <a:fillRef idx="1">
            <a:schemeClr val="accent3"/>
          </a:fillRef>
          <a:effectRef idx="1">
            <a:schemeClr val="accent3"/>
          </a:effectRef>
          <a:fontRef idx="minor">
            <a:schemeClr val="lt1"/>
          </a:fontRef>
        </p:style>
        <p:txBody>
          <a:bodyPr wrap="square">
            <a:spAutoFit/>
          </a:bodyPr>
          <a:lstStyle/>
          <a:p>
            <a:pPr algn="just"/>
            <a:r>
              <a:rPr lang="az-Latn-AZ"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Squid əsas depoya daxildir və beləliklə də quraşdırması sadə prosesdir.</a:t>
            </a: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sp>
        <p:nvSpPr>
          <p:cNvPr id="3" name="TextBox 2">
            <a:extLst>
              <a:ext uri="{FF2B5EF4-FFF2-40B4-BE49-F238E27FC236}">
                <a16:creationId xmlns:a16="http://schemas.microsoft.com/office/drawing/2014/main" id="{6F690451-DAB5-BF92-18D8-F415725BB8A8}"/>
              </a:ext>
            </a:extLst>
          </p:cNvPr>
          <p:cNvSpPr txBox="1"/>
          <p:nvPr/>
        </p:nvSpPr>
        <p:spPr>
          <a:xfrm>
            <a:off x="2024887" y="768800"/>
            <a:ext cx="3586716" cy="523220"/>
          </a:xfrm>
          <a:prstGeom prst="rect">
            <a:avLst/>
          </a:prstGeom>
          <a:noFill/>
        </p:spPr>
        <p:txBody>
          <a:bodyPr wrap="square" rtlCol="0">
            <a:spAutoFit/>
          </a:bodyPr>
          <a:lstStyle/>
          <a:p>
            <a:r>
              <a:rPr lang="az-Latn-AZ" sz="28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Konfiqurasiya</a:t>
            </a:r>
            <a:endParaRPr lang="en-US" sz="28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3525C38-F2CE-95D1-24F2-0913AA97B18B}"/>
              </a:ext>
            </a:extLst>
          </p:cNvPr>
          <p:cNvSpPr txBox="1"/>
          <p:nvPr/>
        </p:nvSpPr>
        <p:spPr>
          <a:xfrm>
            <a:off x="1039602" y="1397532"/>
            <a:ext cx="5444905" cy="1200329"/>
          </a:xfrm>
          <a:prstGeom prst="rect">
            <a:avLst/>
          </a:prstGeom>
          <a:noFill/>
        </p:spPr>
        <p:txBody>
          <a:bodyPr wrap="square">
            <a:spAutoFit/>
          </a:bodyPr>
          <a:lstStyle/>
          <a:p>
            <a:pPr algn="just"/>
            <a:r>
              <a:rPr lang="az-Latn-AZ" dirty="0">
                <a:latin typeface="Times New Roman" panose="02020603050405020304" pitchFamily="18" charset="0"/>
                <a:cs typeface="Times New Roman" panose="02020603050405020304" pitchFamily="18" charset="0"/>
              </a:rPr>
              <a:t>Squid </a:t>
            </a:r>
            <a:r>
              <a:rPr lang="az-Latn-AZ" b="1" dirty="0">
                <a:highlight>
                  <a:srgbClr val="808080"/>
                </a:highlight>
                <a:latin typeface="Times New Roman" panose="02020603050405020304" pitchFamily="18" charset="0"/>
                <a:cs typeface="Times New Roman" panose="02020603050405020304" pitchFamily="18" charset="0"/>
              </a:rPr>
              <a:t>/etc/squid/squid.conf</a:t>
            </a:r>
            <a:r>
              <a:rPr lang="az-Latn-AZ" b="1" dirty="0">
                <a:latin typeface="Times New Roman" panose="02020603050405020304" pitchFamily="18" charset="0"/>
                <a:cs typeface="Times New Roman" panose="02020603050405020304" pitchFamily="18" charset="0"/>
              </a:rPr>
              <a:t> </a:t>
            </a:r>
            <a:r>
              <a:rPr lang="az-Latn-AZ" dirty="0">
                <a:latin typeface="Times New Roman" panose="02020603050405020304" pitchFamily="18" charset="0"/>
                <a:cs typeface="Times New Roman" panose="02020603050405020304" pitchFamily="18" charset="0"/>
              </a:rPr>
              <a:t>konfiqurasiya faylında olan direktivləri redaktə etməklə konfiqurasiya edilir. Aşağıdakı nümunələr Squid serverinin davranışına təsir etmək üçün dəyişdirilə bilən bəzi direktivləri təsvir edir. </a:t>
            </a:r>
            <a:endParaRPr lang="en-US" dirty="0"/>
          </a:p>
        </p:txBody>
      </p:sp>
      <p:sp>
        <p:nvSpPr>
          <p:cNvPr id="5" name="TextBox 4">
            <a:extLst>
              <a:ext uri="{FF2B5EF4-FFF2-40B4-BE49-F238E27FC236}">
                <a16:creationId xmlns:a16="http://schemas.microsoft.com/office/drawing/2014/main" id="{EDA2B3E2-3AC2-4C35-7C97-986D1199E60A}"/>
              </a:ext>
            </a:extLst>
          </p:cNvPr>
          <p:cNvSpPr txBox="1"/>
          <p:nvPr/>
        </p:nvSpPr>
        <p:spPr>
          <a:xfrm>
            <a:off x="1039602" y="2747775"/>
            <a:ext cx="985284" cy="369332"/>
          </a:xfrm>
          <a:prstGeom prst="rect">
            <a:avLst/>
          </a:prstGeom>
          <a:noFill/>
        </p:spPr>
        <p:txBody>
          <a:bodyPr wrap="square" rtlCol="0">
            <a:spAutoFit/>
          </a:bodyPr>
          <a:lstStyle/>
          <a:p>
            <a:r>
              <a:rPr lang="az-Latn-AZ" i="1" dirty="0">
                <a:latin typeface="Times New Roman" panose="02020603050405020304" pitchFamily="18" charset="0"/>
                <a:cs typeface="Times New Roman" panose="02020603050405020304" pitchFamily="18" charset="0"/>
              </a:rPr>
              <a:t>İpucu:</a:t>
            </a:r>
            <a:endParaRPr lang="en-US" i="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C21A558-96F2-2456-DE96-B0B647662BFB}"/>
              </a:ext>
            </a:extLst>
          </p:cNvPr>
          <p:cNvSpPr txBox="1"/>
          <p:nvPr/>
        </p:nvSpPr>
        <p:spPr>
          <a:xfrm>
            <a:off x="1774247" y="2863357"/>
            <a:ext cx="5687518" cy="1754326"/>
          </a:xfrm>
          <a:prstGeom prst="rect">
            <a:avLst/>
          </a:prstGeom>
          <a:noFill/>
          <a:ln w="12700">
            <a:solidFill>
              <a:schemeClr val="tx1">
                <a:lumMod val="50000"/>
                <a:lumOff val="50000"/>
              </a:schemeClr>
            </a:solidFill>
          </a:ln>
        </p:spPr>
        <p:txBody>
          <a:bodyPr wrap="square">
            <a:spAutoFit/>
          </a:bodyPr>
          <a:lstStyle/>
          <a:p>
            <a:pPr algn="just"/>
            <a:r>
              <a:rPr lang="az-Latn-AZ" dirty="0">
                <a:latin typeface="Times New Roman" panose="02020603050405020304" pitchFamily="18" charset="0"/>
                <a:cs typeface="Times New Roman" panose="02020603050405020304" pitchFamily="18" charset="0"/>
              </a:rPr>
              <a:t>Konfiqurasiya faylını redaktə etməzdən əvvəl, siz orijinal faylın surətini çıxarmalı və onu yazılmaqdan qorumalısınız ki, orijinal parametrləri istinad kimi əldə edəsiniz və lazım olduqda yenidən istifadə edəsiniz. Bu nüsxəni yaratmaqla və aşağıdakı əmrlərdən istifadə etməklə yazıdan qorunmaq olar:</a:t>
            </a:r>
          </a:p>
        </p:txBody>
      </p:sp>
      <p:pic>
        <p:nvPicPr>
          <p:cNvPr id="7" name="Picture 3" descr="Görsel arama sorgu görüntüsü">
            <a:extLst>
              <a:ext uri="{FF2B5EF4-FFF2-40B4-BE49-F238E27FC236}">
                <a16:creationId xmlns:a16="http://schemas.microsoft.com/office/drawing/2014/main" id="{8632404B-6B57-1BA8-A5FD-BF3D575CB5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390" y="4855670"/>
            <a:ext cx="4848521" cy="588114"/>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oogle Shape;11057;p80">
            <a:extLst>
              <a:ext uri="{FF2B5EF4-FFF2-40B4-BE49-F238E27FC236}">
                <a16:creationId xmlns:a16="http://schemas.microsoft.com/office/drawing/2014/main" id="{A71A346E-BE73-D51A-F3BA-67D6DC04E4F6}"/>
              </a:ext>
            </a:extLst>
          </p:cNvPr>
          <p:cNvGrpSpPr/>
          <p:nvPr/>
        </p:nvGrpSpPr>
        <p:grpSpPr>
          <a:xfrm>
            <a:off x="1127042" y="3055552"/>
            <a:ext cx="320143" cy="392581"/>
            <a:chOff x="3086313" y="2877049"/>
            <a:chExt cx="320143" cy="392581"/>
          </a:xfrm>
          <a:solidFill>
            <a:srgbClr val="FFFF00"/>
          </a:solidFill>
        </p:grpSpPr>
        <p:sp>
          <p:nvSpPr>
            <p:cNvPr id="9" name="Google Shape;11058;p80">
              <a:extLst>
                <a:ext uri="{FF2B5EF4-FFF2-40B4-BE49-F238E27FC236}">
                  <a16:creationId xmlns:a16="http://schemas.microsoft.com/office/drawing/2014/main" id="{621B2969-5945-A7B5-5DDF-C70DB3500173}"/>
                </a:ext>
              </a:extLst>
            </p:cNvPr>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grpFill/>
            <a:ln>
              <a:solidFill>
                <a:srgbClr val="FFFF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059;p80">
              <a:extLst>
                <a:ext uri="{FF2B5EF4-FFF2-40B4-BE49-F238E27FC236}">
                  <a16:creationId xmlns:a16="http://schemas.microsoft.com/office/drawing/2014/main" id="{DF0EBB06-876D-EA25-66B9-A63682D63DF8}"/>
                </a:ext>
              </a:extLst>
            </p:cNvPr>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grpFill/>
            <a:ln>
              <a:solidFill>
                <a:srgbClr val="FFFF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060;p80">
              <a:extLst>
                <a:ext uri="{FF2B5EF4-FFF2-40B4-BE49-F238E27FC236}">
                  <a16:creationId xmlns:a16="http://schemas.microsoft.com/office/drawing/2014/main" id="{C3F2DAD4-40C0-071F-B7BE-50BD1A03CF68}"/>
                </a:ext>
              </a:extLst>
            </p:cNvPr>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grpFill/>
            <a:ln>
              <a:solidFill>
                <a:srgbClr val="FFFF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061;p80">
              <a:extLst>
                <a:ext uri="{FF2B5EF4-FFF2-40B4-BE49-F238E27FC236}">
                  <a16:creationId xmlns:a16="http://schemas.microsoft.com/office/drawing/2014/main" id="{ADAF3A46-1D3F-0574-F306-BCCD2BC21254}"/>
                </a:ext>
              </a:extLst>
            </p:cNvPr>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grpFill/>
            <a:ln>
              <a:solidFill>
                <a:srgbClr val="FFFF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062;p80">
              <a:extLst>
                <a:ext uri="{FF2B5EF4-FFF2-40B4-BE49-F238E27FC236}">
                  <a16:creationId xmlns:a16="http://schemas.microsoft.com/office/drawing/2014/main" id="{27F00246-E4DA-E18E-F5F4-AE7DC177D33B}"/>
                </a:ext>
              </a:extLst>
            </p:cNvPr>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grpFill/>
            <a:ln>
              <a:solidFill>
                <a:srgbClr val="FFFF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063;p80">
              <a:extLst>
                <a:ext uri="{FF2B5EF4-FFF2-40B4-BE49-F238E27FC236}">
                  <a16:creationId xmlns:a16="http://schemas.microsoft.com/office/drawing/2014/main" id="{DF09CCA5-BBCE-9767-1F6D-73544D46D042}"/>
                </a:ext>
              </a:extLst>
            </p:cNvPr>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grpFill/>
            <a:ln>
              <a:solidFill>
                <a:srgbClr val="FFFF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064;p80">
              <a:extLst>
                <a:ext uri="{FF2B5EF4-FFF2-40B4-BE49-F238E27FC236}">
                  <a16:creationId xmlns:a16="http://schemas.microsoft.com/office/drawing/2014/main" id="{B6E3E3A3-BD4F-F127-C069-BDC09EEFDFD8}"/>
                </a:ext>
              </a:extLst>
            </p:cNvPr>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grpFill/>
            <a:ln>
              <a:solidFill>
                <a:srgbClr val="FFFF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065;p80">
              <a:extLst>
                <a:ext uri="{FF2B5EF4-FFF2-40B4-BE49-F238E27FC236}">
                  <a16:creationId xmlns:a16="http://schemas.microsoft.com/office/drawing/2014/main" id="{4625B4FF-43AB-EFAC-88A5-98D9BF2BCF30}"/>
                </a:ext>
              </a:extLst>
            </p:cNvPr>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grpFill/>
            <a:ln>
              <a:solidFill>
                <a:srgbClr val="FFFF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1066;p80">
              <a:extLst>
                <a:ext uri="{FF2B5EF4-FFF2-40B4-BE49-F238E27FC236}">
                  <a16:creationId xmlns:a16="http://schemas.microsoft.com/office/drawing/2014/main" id="{4DE54F6F-CC3A-8F32-1D55-386C183E294E}"/>
                </a:ext>
              </a:extLst>
            </p:cNvPr>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grpFill/>
            <a:ln>
              <a:solidFill>
                <a:srgbClr val="FFFF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1067;p80">
              <a:extLst>
                <a:ext uri="{FF2B5EF4-FFF2-40B4-BE49-F238E27FC236}">
                  <a16:creationId xmlns:a16="http://schemas.microsoft.com/office/drawing/2014/main" id="{90DD7A98-9F5A-3324-FF3F-D829EFFD00ED}"/>
                </a:ext>
              </a:extLst>
            </p:cNvPr>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grpFill/>
            <a:ln>
              <a:solidFill>
                <a:srgbClr val="FFFF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1068;p80">
              <a:extLst>
                <a:ext uri="{FF2B5EF4-FFF2-40B4-BE49-F238E27FC236}">
                  <a16:creationId xmlns:a16="http://schemas.microsoft.com/office/drawing/2014/main" id="{47DDC39E-830A-F739-7875-098A48613821}"/>
                </a:ext>
              </a:extLst>
            </p:cNvPr>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grpFill/>
            <a:ln>
              <a:solidFill>
                <a:srgbClr val="FFFF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1069;p80">
              <a:extLst>
                <a:ext uri="{FF2B5EF4-FFF2-40B4-BE49-F238E27FC236}">
                  <a16:creationId xmlns:a16="http://schemas.microsoft.com/office/drawing/2014/main" id="{6CCED180-19DB-BFF3-A589-7D2A7002D1B4}"/>
                </a:ext>
              </a:extLst>
            </p:cNvPr>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grpFill/>
            <a:ln>
              <a:solidFill>
                <a:srgbClr val="FFFF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cxnSp>
        <p:nvCxnSpPr>
          <p:cNvPr id="3" name="Google Shape;216;p44">
            <a:extLst>
              <a:ext uri="{FF2B5EF4-FFF2-40B4-BE49-F238E27FC236}">
                <a16:creationId xmlns:a16="http://schemas.microsoft.com/office/drawing/2014/main" id="{32543D86-72C6-386D-6BCD-5C6F98E150EB}"/>
              </a:ext>
            </a:extLst>
          </p:cNvPr>
          <p:cNvCxnSpPr>
            <a:cxnSpLocks/>
          </p:cNvCxnSpPr>
          <p:nvPr/>
        </p:nvCxnSpPr>
        <p:spPr>
          <a:xfrm>
            <a:off x="1527739" y="941816"/>
            <a:ext cx="0" cy="1169086"/>
          </a:xfrm>
          <a:prstGeom prst="straightConnector1">
            <a:avLst/>
          </a:prstGeom>
          <a:noFill/>
          <a:ln w="19050"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4" name="TextBox 3">
            <a:extLst>
              <a:ext uri="{FF2B5EF4-FFF2-40B4-BE49-F238E27FC236}">
                <a16:creationId xmlns:a16="http://schemas.microsoft.com/office/drawing/2014/main" id="{3CFE4B44-207D-FCCC-A70A-26EA553805C5}"/>
              </a:ext>
            </a:extLst>
          </p:cNvPr>
          <p:cNvSpPr txBox="1"/>
          <p:nvPr/>
        </p:nvSpPr>
        <p:spPr>
          <a:xfrm>
            <a:off x="1667575" y="867299"/>
            <a:ext cx="4696045" cy="923330"/>
          </a:xfrm>
          <a:prstGeom prst="rect">
            <a:avLst/>
          </a:prstGeom>
          <a:noFill/>
        </p:spPr>
        <p:txBody>
          <a:bodyPr wrap="square">
            <a:spAutoFit/>
          </a:bodyPr>
          <a:lstStyle/>
          <a:p>
            <a:pPr algn="just"/>
            <a:r>
              <a:rPr lang="az-Latn-AZ" dirty="0">
                <a:latin typeface="Times New Roman" panose="02020603050405020304" pitchFamily="18" charset="0"/>
                <a:cs typeface="Times New Roman" panose="02020603050405020304" pitchFamily="18" charset="0"/>
              </a:rPr>
              <a:t>Squid serverini standart TCP port 3128 əvəzinə, TCP port 8888 kimi təyin etmək üçün </a:t>
            </a:r>
            <a:r>
              <a:rPr lang="az-Latn-AZ" dirty="0">
                <a:solidFill>
                  <a:schemeClr val="accent2"/>
                </a:solidFill>
                <a:latin typeface="Times New Roman" panose="02020603050405020304" pitchFamily="18" charset="0"/>
                <a:cs typeface="Times New Roman" panose="02020603050405020304" pitchFamily="18" charset="0"/>
              </a:rPr>
              <a:t>http_port </a:t>
            </a:r>
            <a:r>
              <a:rPr lang="az-Latn-AZ" dirty="0">
                <a:latin typeface="Times New Roman" panose="02020603050405020304" pitchFamily="18" charset="0"/>
                <a:cs typeface="Times New Roman" panose="02020603050405020304" pitchFamily="18" charset="0"/>
              </a:rPr>
              <a:t>direktivini aşağıdakı kimi dəyişmək lazımdır:</a:t>
            </a:r>
          </a:p>
        </p:txBody>
      </p:sp>
      <p:pic>
        <p:nvPicPr>
          <p:cNvPr id="5" name="Picture 3" descr="Görsel arama sorgu görüntüsü">
            <a:extLst>
              <a:ext uri="{FF2B5EF4-FFF2-40B4-BE49-F238E27FC236}">
                <a16:creationId xmlns:a16="http://schemas.microsoft.com/office/drawing/2014/main" id="{4DD44247-03CB-A4FD-B85E-6F0FD4E2F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5292" y="1222147"/>
            <a:ext cx="1592445" cy="4190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826E3EB-63B5-5A6A-66D6-8B8749AE0A56}"/>
              </a:ext>
            </a:extLst>
          </p:cNvPr>
          <p:cNvSpPr txBox="1"/>
          <p:nvPr/>
        </p:nvSpPr>
        <p:spPr>
          <a:xfrm>
            <a:off x="1667576" y="2401527"/>
            <a:ext cx="4696041" cy="1477328"/>
          </a:xfrm>
          <a:prstGeom prst="rect">
            <a:avLst/>
          </a:prstGeom>
          <a:noFill/>
        </p:spPr>
        <p:txBody>
          <a:bodyPr wrap="square">
            <a:spAutoFit/>
          </a:bodyPr>
          <a:lstStyle/>
          <a:p>
            <a:pPr algn="just"/>
            <a:r>
              <a:rPr lang="az-Latn-AZ" dirty="0">
                <a:latin typeface="Times New Roman" panose="02020603050405020304" pitchFamily="18" charset="0"/>
                <a:cs typeface="Times New Roman" panose="02020603050405020304" pitchFamily="18" charset="0"/>
              </a:rPr>
              <a:t>Squid serverinə xüsusi host adı vermək üçün </a:t>
            </a:r>
            <a:r>
              <a:rPr lang="az-Latn-AZ" dirty="0">
                <a:solidFill>
                  <a:schemeClr val="accent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visible_hostname </a:t>
            </a:r>
            <a:r>
              <a:rPr lang="az-Latn-AZ" dirty="0">
                <a:latin typeface="Times New Roman" panose="02020603050405020304" pitchFamily="18" charset="0"/>
                <a:cs typeface="Times New Roman" panose="02020603050405020304" pitchFamily="18" charset="0"/>
              </a:rPr>
              <a:t>direktivini dəyişdirmək lazımdır. Bu host adının mütləq kompüterin ana adı olması lazım deyil. Məsələn, weezie olaraq təyin edilmişdir. </a:t>
            </a:r>
          </a:p>
        </p:txBody>
      </p:sp>
      <p:cxnSp>
        <p:nvCxnSpPr>
          <p:cNvPr id="7" name="Google Shape;216;p44">
            <a:extLst>
              <a:ext uri="{FF2B5EF4-FFF2-40B4-BE49-F238E27FC236}">
                <a16:creationId xmlns:a16="http://schemas.microsoft.com/office/drawing/2014/main" id="{120DD1FB-8802-A8F2-886A-934598D53387}"/>
              </a:ext>
            </a:extLst>
          </p:cNvPr>
          <p:cNvCxnSpPr>
            <a:cxnSpLocks/>
          </p:cNvCxnSpPr>
          <p:nvPr/>
        </p:nvCxnSpPr>
        <p:spPr>
          <a:xfrm>
            <a:off x="1527739" y="2486583"/>
            <a:ext cx="0" cy="1376296"/>
          </a:xfrm>
          <a:prstGeom prst="straightConnector1">
            <a:avLst/>
          </a:prstGeom>
          <a:noFill/>
          <a:ln w="19050"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8" name="Picture 5" descr="Görsel arama sorgu görüntüsü">
            <a:extLst>
              <a:ext uri="{FF2B5EF4-FFF2-40B4-BE49-F238E27FC236}">
                <a16:creationId xmlns:a16="http://schemas.microsoft.com/office/drawing/2014/main" id="{F6159AAD-DA0C-6632-72F5-8180A777D9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6372" y="2901263"/>
            <a:ext cx="2046102" cy="41906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AC89362-A78E-03C4-A98A-04A1CE84D471}"/>
              </a:ext>
            </a:extLst>
          </p:cNvPr>
          <p:cNvSpPr txBox="1"/>
          <p:nvPr/>
        </p:nvSpPr>
        <p:spPr>
          <a:xfrm>
            <a:off x="1667575" y="4037944"/>
            <a:ext cx="4696040" cy="1200329"/>
          </a:xfrm>
          <a:prstGeom prst="rect">
            <a:avLst/>
          </a:prstGeom>
          <a:noFill/>
        </p:spPr>
        <p:txBody>
          <a:bodyPr wrap="square">
            <a:spAutoFit/>
          </a:bodyPr>
          <a:lstStyle/>
          <a:p>
            <a:pPr algn="just"/>
            <a:r>
              <a:rPr lang="az-Latn-AZ" dirty="0">
                <a:solidFill>
                  <a:schemeClr val="accent2"/>
                </a:solidFill>
                <a:latin typeface="Times New Roman" panose="02020603050405020304" pitchFamily="18" charset="0"/>
                <a:cs typeface="Times New Roman" panose="02020603050405020304" pitchFamily="18" charset="0"/>
              </a:rPr>
              <a:t>cache_dir </a:t>
            </a:r>
            <a:r>
              <a:rPr lang="az-Latn-AZ" dirty="0">
                <a:latin typeface="Times New Roman" panose="02020603050405020304" pitchFamily="18" charset="0"/>
                <a:cs typeface="Times New Roman" panose="02020603050405020304" pitchFamily="18" charset="0"/>
              </a:rPr>
              <a:t>seçimi diskdəki keşi konfiqurasiya etməyə imkan verir, standart seçim yaddaşda olan keşdir. </a:t>
            </a:r>
            <a:r>
              <a:rPr lang="az-Latn-AZ" dirty="0">
                <a:solidFill>
                  <a:schemeClr val="accent2"/>
                </a:solidFill>
                <a:latin typeface="Times New Roman" panose="02020603050405020304" pitchFamily="18" charset="0"/>
                <a:cs typeface="Times New Roman" panose="02020603050405020304" pitchFamily="18" charset="0"/>
              </a:rPr>
              <a:t>cache_dir </a:t>
            </a:r>
            <a:r>
              <a:rPr lang="az-Latn-AZ" dirty="0">
                <a:latin typeface="Times New Roman" panose="02020603050405020304" pitchFamily="18" charset="0"/>
                <a:cs typeface="Times New Roman" panose="02020603050405020304" pitchFamily="18" charset="0"/>
              </a:rPr>
              <a:t>direktivi aşağıdakı arqumentləri qəbul edir:</a:t>
            </a:r>
          </a:p>
        </p:txBody>
      </p:sp>
      <p:pic>
        <p:nvPicPr>
          <p:cNvPr id="10" name="Picture 7" descr="Görsel arama sorgu görüntüsü">
            <a:extLst>
              <a:ext uri="{FF2B5EF4-FFF2-40B4-BE49-F238E27FC236}">
                <a16:creationId xmlns:a16="http://schemas.microsoft.com/office/drawing/2014/main" id="{50A20216-367C-7426-90AB-AB7DFD0E9E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11841" y="5287298"/>
            <a:ext cx="4217582" cy="41895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Google Shape;216;p44">
            <a:extLst>
              <a:ext uri="{FF2B5EF4-FFF2-40B4-BE49-F238E27FC236}">
                <a16:creationId xmlns:a16="http://schemas.microsoft.com/office/drawing/2014/main" id="{5C07E266-44A1-2F45-BA00-1B6B6CFF1C3B}"/>
              </a:ext>
            </a:extLst>
          </p:cNvPr>
          <p:cNvCxnSpPr>
            <a:cxnSpLocks/>
          </p:cNvCxnSpPr>
          <p:nvPr/>
        </p:nvCxnSpPr>
        <p:spPr>
          <a:xfrm>
            <a:off x="1527739" y="4151043"/>
            <a:ext cx="0" cy="1121274"/>
          </a:xfrm>
          <a:prstGeom prst="straightConnector1">
            <a:avLst/>
          </a:prstGeom>
          <a:noFill/>
          <a:ln w="19050"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sp>
        <p:nvSpPr>
          <p:cNvPr id="3" name="TextBox 2">
            <a:extLst>
              <a:ext uri="{FF2B5EF4-FFF2-40B4-BE49-F238E27FC236}">
                <a16:creationId xmlns:a16="http://schemas.microsoft.com/office/drawing/2014/main" id="{D78C722C-61D9-FA51-50F6-E3B67DCF7852}"/>
              </a:ext>
            </a:extLst>
          </p:cNvPr>
          <p:cNvSpPr txBox="1"/>
          <p:nvPr/>
        </p:nvSpPr>
        <p:spPr>
          <a:xfrm>
            <a:off x="1143252" y="1031801"/>
            <a:ext cx="6099545" cy="646331"/>
          </a:xfrm>
          <a:prstGeom prst="rect">
            <a:avLst/>
          </a:prstGeom>
          <a:noFill/>
        </p:spPr>
        <p:txBody>
          <a:bodyPr wrap="square">
            <a:spAutoFit/>
          </a:bodyPr>
          <a:lstStyle/>
          <a:p>
            <a:pPr algn="just"/>
            <a:r>
              <a:rPr lang="az-Latn-AZ" dirty="0">
                <a:latin typeface="Times New Roman" panose="02020603050405020304" pitchFamily="18" charset="0"/>
                <a:cs typeface="Times New Roman" panose="02020603050405020304" pitchFamily="18" charset="0"/>
              </a:rPr>
              <a:t>Konfiqurasiya faylında şərh edilmiş standart </a:t>
            </a:r>
            <a:r>
              <a:rPr lang="az-Latn-AZ" dirty="0">
                <a:solidFill>
                  <a:schemeClr val="accent2"/>
                </a:solidFill>
                <a:latin typeface="Times New Roman" panose="02020603050405020304" pitchFamily="18" charset="0"/>
                <a:cs typeface="Times New Roman" panose="02020603050405020304" pitchFamily="18" charset="0"/>
              </a:rPr>
              <a:t>cache_dir </a:t>
            </a:r>
            <a:r>
              <a:rPr lang="az-Latn-AZ" dirty="0">
                <a:latin typeface="Times New Roman" panose="02020603050405020304" pitchFamily="18" charset="0"/>
                <a:cs typeface="Times New Roman" panose="02020603050405020304" pitchFamily="18" charset="0"/>
              </a:rPr>
              <a:t>direktivini tapmaq olar:</a:t>
            </a:r>
          </a:p>
        </p:txBody>
      </p:sp>
      <p:pic>
        <p:nvPicPr>
          <p:cNvPr id="4" name="Picture 2" descr="Görsel arama sorgu görüntüsü">
            <a:extLst>
              <a:ext uri="{FF2B5EF4-FFF2-40B4-BE49-F238E27FC236}">
                <a16:creationId xmlns:a16="http://schemas.microsoft.com/office/drawing/2014/main" id="{2DB2D209-0D5F-3283-3120-4F338A2268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0170" y="1683727"/>
            <a:ext cx="4421594" cy="4309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60A7415-A01D-FDFC-E3B3-2F87ACC9F1B2}"/>
              </a:ext>
            </a:extLst>
          </p:cNvPr>
          <p:cNvSpPr txBox="1"/>
          <p:nvPr/>
        </p:nvSpPr>
        <p:spPr>
          <a:xfrm>
            <a:off x="654914" y="2867661"/>
            <a:ext cx="3065722" cy="1754326"/>
          </a:xfrm>
          <a:prstGeom prst="rect">
            <a:avLst/>
          </a:prstGeom>
          <a:noFill/>
        </p:spPr>
        <p:txBody>
          <a:bodyPr wrap="square">
            <a:spAutoFit/>
          </a:bodyPr>
          <a:lstStyle/>
          <a:p>
            <a:pPr algn="just"/>
            <a:r>
              <a:rPr lang="az-Latn-AZ">
                <a:latin typeface="Times New Roman" panose="02020603050405020304" pitchFamily="18" charset="0"/>
                <a:cs typeface="Times New Roman" panose="02020603050405020304" pitchFamily="18" charset="0"/>
              </a:rPr>
              <a:t>Burada sadəcə olaraq standart seçimdən istifadə etmək olar, lakin həm də keş kataloqunu fərdiləşdirmək mümkündür, əsasən bu kataloqun </a:t>
            </a:r>
            <a:r>
              <a:rPr lang="az-Latn-AZ">
                <a:solidFill>
                  <a:schemeClr val="accent2"/>
                </a:solidFill>
                <a:latin typeface="Times New Roman" panose="02020603050405020304" pitchFamily="18" charset="0"/>
                <a:cs typeface="Times New Roman" panose="02020603050405020304" pitchFamily="18" charset="0"/>
              </a:rPr>
              <a:t>&lt;Type&gt;-i </a:t>
            </a:r>
            <a:r>
              <a:rPr lang="az-Latn-AZ">
                <a:latin typeface="Times New Roman" panose="02020603050405020304" pitchFamily="18" charset="0"/>
                <a:cs typeface="Times New Roman" panose="02020603050405020304" pitchFamily="18" charset="0"/>
              </a:rPr>
              <a:t>dəyişdirilir, bunlar ola bilər </a:t>
            </a:r>
            <a:r>
              <a:rPr lang="az-Latn-AZ">
                <a:latin typeface="Times New Roman" panose="02020603050405020304" pitchFamily="18" charset="0"/>
                <a:cs typeface="Times New Roman" panose="02020603050405020304" pitchFamily="18" charset="0"/>
                <a:sym typeface="Wingdings" panose="05000000000000000000" pitchFamily="2" charset="2"/>
              </a:rPr>
              <a:t></a:t>
            </a:r>
            <a:endParaRPr lang="az-Latn-AZ"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15582DA-4BAC-4B76-FD0E-01330D1415FC}"/>
              </a:ext>
            </a:extLst>
          </p:cNvPr>
          <p:cNvSpPr txBox="1"/>
          <p:nvPr/>
        </p:nvSpPr>
        <p:spPr>
          <a:xfrm>
            <a:off x="3946342" y="2579149"/>
            <a:ext cx="5402932" cy="3693319"/>
          </a:xfrm>
          <a:prstGeom prst="rect">
            <a:avLst/>
          </a:prstGeom>
          <a:noFill/>
          <a:ln w="19050">
            <a:solidFill>
              <a:schemeClr val="accent4">
                <a:lumMod val="75000"/>
              </a:schemeClr>
            </a:solidFill>
          </a:ln>
        </p:spPr>
        <p:txBody>
          <a:bodyPr wrap="square">
            <a:spAutoFit/>
          </a:bodyPr>
          <a:lstStyle/>
          <a:p>
            <a:pPr marL="285750" indent="-285750" algn="just">
              <a:buClr>
                <a:srgbClr val="FFFF00"/>
              </a:buClr>
              <a:buFont typeface="Wingdings" panose="05000000000000000000" pitchFamily="2" charset="2"/>
              <a:buChar char="Ø"/>
            </a:pPr>
            <a:r>
              <a:rPr lang="az-Latn-AZ" b="1" dirty="0">
                <a:highlight>
                  <a:srgbClr val="808080"/>
                </a:highlight>
                <a:latin typeface="Times New Roman" panose="02020603050405020304" pitchFamily="18" charset="0"/>
                <a:cs typeface="Times New Roman" panose="02020603050405020304" pitchFamily="18" charset="0"/>
              </a:rPr>
              <a:t>ufs:</a:t>
            </a:r>
            <a:r>
              <a:rPr lang="az-Latn-AZ" dirty="0">
                <a:latin typeface="Times New Roman" panose="02020603050405020304" pitchFamily="18" charset="0"/>
                <a:cs typeface="Times New Roman" panose="02020603050405020304" pitchFamily="18" charset="0"/>
              </a:rPr>
              <a:t> Həmişə mövcud olan köhnə tanınmış Squid saxlama formatıdır.</a:t>
            </a:r>
          </a:p>
          <a:p>
            <a:pPr marL="285750" indent="-285750" algn="just">
              <a:buClr>
                <a:srgbClr val="FFFF00"/>
              </a:buClr>
              <a:buFont typeface="Wingdings" panose="05000000000000000000" pitchFamily="2" charset="2"/>
              <a:buChar char="Ø"/>
            </a:pPr>
            <a:r>
              <a:rPr lang="az-Latn-AZ" b="1" dirty="0">
                <a:highlight>
                  <a:srgbClr val="808080"/>
                </a:highlight>
                <a:latin typeface="Times New Roman" panose="02020603050405020304" pitchFamily="18" charset="0"/>
                <a:cs typeface="Times New Roman" panose="02020603050405020304" pitchFamily="18" charset="0"/>
              </a:rPr>
              <a:t>aufs:</a:t>
            </a:r>
            <a:r>
              <a:rPr lang="az-Latn-AZ" dirty="0">
                <a:latin typeface="Times New Roman" panose="02020603050405020304" pitchFamily="18" charset="0"/>
                <a:cs typeface="Times New Roman" panose="02020603050405020304" pitchFamily="18" charset="0"/>
              </a:rPr>
              <a:t> Əsas Squid prosesini bloklamamaq üçün POSIX iplərindən istifadə edərək disk I/O-da ufs ilə eyni yaddaş formatından istifadə edir. Bu, əvvəllər Squid-də async-io kimi tanınırdı.</a:t>
            </a:r>
          </a:p>
          <a:p>
            <a:pPr marL="285750" indent="-285750" algn="just">
              <a:buClr>
                <a:srgbClr val="FFFF00"/>
              </a:buClr>
              <a:buFont typeface="Wingdings" panose="05000000000000000000" pitchFamily="2" charset="2"/>
              <a:buChar char="Ø"/>
            </a:pPr>
            <a:r>
              <a:rPr lang="az-Latn-AZ" b="1" dirty="0">
                <a:highlight>
                  <a:srgbClr val="808080"/>
                </a:highlight>
                <a:latin typeface="Times New Roman" panose="02020603050405020304" pitchFamily="18" charset="0"/>
                <a:cs typeface="Times New Roman" panose="02020603050405020304" pitchFamily="18" charset="0"/>
              </a:rPr>
              <a:t>diskd:</a:t>
            </a:r>
            <a:r>
              <a:rPr lang="az-Latn-AZ" dirty="0">
                <a:latin typeface="Times New Roman" panose="02020603050405020304" pitchFamily="18" charset="0"/>
                <a:cs typeface="Times New Roman" panose="02020603050405020304" pitchFamily="18" charset="0"/>
              </a:rPr>
              <a:t> Əsas Squid prosesini bloklamamaq üçün ayrıca prosesdən istifadə edərək disk I/O-da  ufs ilə eyni yaddaş formatından istifadə edir.</a:t>
            </a:r>
          </a:p>
          <a:p>
            <a:pPr marL="285750" indent="-285750" algn="just">
              <a:buClr>
                <a:srgbClr val="FFFF00"/>
              </a:buClr>
              <a:buFont typeface="Wingdings" panose="05000000000000000000" pitchFamily="2" charset="2"/>
              <a:buChar char="Ø"/>
            </a:pPr>
            <a:r>
              <a:rPr lang="az-Latn-AZ" b="1" dirty="0">
                <a:highlight>
                  <a:srgbClr val="808080"/>
                </a:highlight>
                <a:latin typeface="Times New Roman" panose="02020603050405020304" pitchFamily="18" charset="0"/>
                <a:cs typeface="Times New Roman" panose="02020603050405020304" pitchFamily="18" charset="0"/>
              </a:rPr>
              <a:t>rock:</a:t>
            </a:r>
            <a:r>
              <a:rPr lang="az-Latn-AZ" dirty="0">
                <a:latin typeface="Times New Roman" panose="02020603050405020304" pitchFamily="18" charset="0"/>
                <a:cs typeface="Times New Roman" panose="02020603050405020304" pitchFamily="18" charset="0"/>
              </a:rPr>
              <a:t> Verilənlər bazası tipli yaddaşdır. Bütün keşlənmiş qeydlər sabit ölçülü yuvalardan istifadə edərək “verilənlər bazası” faylında saxlanılır. Tək giriş bir və ya daha çox yeri tutur.</a:t>
            </a:r>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cxnSp>
        <p:nvCxnSpPr>
          <p:cNvPr id="3" name="Google Shape;216;p44">
            <a:extLst>
              <a:ext uri="{FF2B5EF4-FFF2-40B4-BE49-F238E27FC236}">
                <a16:creationId xmlns:a16="http://schemas.microsoft.com/office/drawing/2014/main" id="{0FA84AE8-302A-B547-50C6-6920A01E99DC}"/>
              </a:ext>
            </a:extLst>
          </p:cNvPr>
          <p:cNvCxnSpPr>
            <a:cxnSpLocks/>
          </p:cNvCxnSpPr>
          <p:nvPr/>
        </p:nvCxnSpPr>
        <p:spPr>
          <a:xfrm>
            <a:off x="818612" y="1473661"/>
            <a:ext cx="0" cy="1799951"/>
          </a:xfrm>
          <a:prstGeom prst="straightConnector1">
            <a:avLst/>
          </a:prstGeom>
          <a:noFill/>
          <a:ln w="19050" cap="flat" cmpd="sng">
            <a:solidFill>
              <a:srgbClr val="FFAB40"/>
            </a:solidFill>
            <a:prstDash val="solid"/>
            <a:round/>
            <a:headEnd type="none" w="med" len="med"/>
            <a:tailEnd type="none" w="med" len="med"/>
          </a:ln>
          <a:effectLst>
            <a:outerShdw blurRad="57150" dist="19050" dir="5400000" algn="bl" rotWithShape="0">
              <a:srgbClr val="FFFFFF">
                <a:alpha val="50000"/>
              </a:srgbClr>
            </a:outerShdw>
          </a:effectLst>
        </p:spPr>
      </p:cxnSp>
      <p:sp>
        <p:nvSpPr>
          <p:cNvPr id="4" name="TextBox 3">
            <a:extLst>
              <a:ext uri="{FF2B5EF4-FFF2-40B4-BE49-F238E27FC236}">
                <a16:creationId xmlns:a16="http://schemas.microsoft.com/office/drawing/2014/main" id="{0EE6CD58-2A75-2B4E-4212-420AF05F0187}"/>
              </a:ext>
            </a:extLst>
          </p:cNvPr>
          <p:cNvSpPr txBox="1"/>
          <p:nvPr/>
        </p:nvSpPr>
        <p:spPr>
          <a:xfrm>
            <a:off x="958448" y="1399144"/>
            <a:ext cx="4696045" cy="1384995"/>
          </a:xfrm>
          <a:prstGeom prst="rect">
            <a:avLst/>
          </a:prstGeom>
          <a:noFill/>
        </p:spPr>
        <p:txBody>
          <a:bodyPr wrap="square">
            <a:spAutoFit/>
          </a:bodyPr>
          <a:lstStyle/>
          <a:p>
            <a:pPr algn="just">
              <a:buClr>
                <a:srgbClr val="000000"/>
              </a:buClr>
              <a:buFont typeface="Arial"/>
              <a:buNone/>
            </a:pPr>
            <a:r>
              <a:rPr lang="az-Latn-AZ" sz="1400" kern="0" dirty="0">
                <a:latin typeface="Times New Roman" panose="02020603050405020304" pitchFamily="18" charset="0"/>
                <a:cs typeface="Times New Roman" panose="02020603050405020304" pitchFamily="18" charset="0"/>
                <a:sym typeface="Arial"/>
              </a:rPr>
              <a:t>Squid-in giriş nəzarətindən istifadə etməklə Squid tərəfindən proksiləşdirilmiş İnternet xidmətlərindən istifadəni yalnız müəyyən Internet Protocol (IP) ünvanları olan istifadəçilər üçün əlçatan şəkildə konfiqurasiya etmək olar. Məsələn, biz yalnız </a:t>
            </a:r>
            <a:r>
              <a:rPr lang="az-Latn-AZ" sz="1400" kern="0" dirty="0">
                <a:solidFill>
                  <a:schemeClr val="accent1">
                    <a:lumMod val="60000"/>
                    <a:lumOff val="40000"/>
                  </a:schemeClr>
                </a:solidFill>
                <a:latin typeface="Times New Roman" panose="02020603050405020304" pitchFamily="18" charset="0"/>
                <a:cs typeface="Times New Roman" panose="02020603050405020304" pitchFamily="18" charset="0"/>
                <a:sym typeface="Arial"/>
              </a:rPr>
              <a:t>192.168.42.0/24</a:t>
            </a:r>
            <a:r>
              <a:rPr lang="az-Latn-AZ" sz="1400" kern="0" dirty="0">
                <a:latin typeface="Times New Roman" panose="02020603050405020304" pitchFamily="18" charset="0"/>
                <a:cs typeface="Times New Roman" panose="02020603050405020304" pitchFamily="18" charset="0"/>
                <a:sym typeface="Arial"/>
              </a:rPr>
              <a:t> alt şəbəkəsinin istifadəçilərinin girişini təsvir edəcəyik:</a:t>
            </a:r>
          </a:p>
        </p:txBody>
      </p:sp>
      <p:pic>
        <p:nvPicPr>
          <p:cNvPr id="5" name="Picture 2" descr="Görsel arama sorgu görüntüsü">
            <a:extLst>
              <a:ext uri="{FF2B5EF4-FFF2-40B4-BE49-F238E27FC236}">
                <a16:creationId xmlns:a16="http://schemas.microsoft.com/office/drawing/2014/main" id="{E85810CF-8F03-E17B-F895-4FA463E62E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4121" y="2840668"/>
            <a:ext cx="3384698" cy="42585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2CF9FD1-44A6-9322-69F4-87BD3A847BB5}"/>
              </a:ext>
            </a:extLst>
          </p:cNvPr>
          <p:cNvSpPr txBox="1"/>
          <p:nvPr/>
        </p:nvSpPr>
        <p:spPr>
          <a:xfrm>
            <a:off x="6028244" y="1630532"/>
            <a:ext cx="3118883" cy="738664"/>
          </a:xfrm>
          <a:prstGeom prst="rect">
            <a:avLst/>
          </a:prstGeom>
          <a:solidFill>
            <a:srgbClr val="001633"/>
          </a:solidFill>
          <a:ln w="38100" cap="flat" cmpd="sng" algn="ctr">
            <a:solidFill>
              <a:srgbClr val="FFFFFF"/>
            </a:solidFill>
            <a:prstDash val="solid"/>
          </a:ln>
          <a:effectLst>
            <a:outerShdw blurRad="40000" dist="20000" dir="5400000" rotWithShape="0">
              <a:srgbClr val="000000">
                <a:alpha val="38000"/>
              </a:srgbClr>
            </a:outerShdw>
          </a:effectLst>
        </p:spPr>
        <p:txBody>
          <a:bodyPr wrap="square">
            <a:spAutoFit/>
          </a:bodyPr>
          <a:lstStyle/>
          <a:p>
            <a:pPr marL="0" marR="0" lvl="0" indent="0" algn="just" defTabSz="914400" eaLnBrk="1" fontAlgn="auto" latinLnBrk="0" hangingPunct="1">
              <a:lnSpc>
                <a:spcPct val="100000"/>
              </a:lnSpc>
              <a:spcBef>
                <a:spcPts val="0"/>
              </a:spcBef>
              <a:spcAft>
                <a:spcPts val="0"/>
              </a:spcAft>
              <a:buClr>
                <a:srgbClr val="000000"/>
              </a:buClr>
              <a:buSzTx/>
              <a:buFont typeface="Arial"/>
              <a:buNone/>
              <a:tabLst/>
              <a:defRPr/>
            </a:pPr>
            <a:r>
              <a:rPr kumimoji="0" lang="az-Latn-AZ" sz="1400" b="0"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a:rPr>
              <a:t>Sonra, </a:t>
            </a:r>
            <a:r>
              <a:rPr kumimoji="0" lang="az-Latn-AZ" sz="1400" b="0" i="0" u="none" strike="noStrike" kern="0" cap="none" spc="0" normalizeH="0" baseline="0" noProof="0" dirty="0">
                <a:ln>
                  <a:noFill/>
                </a:ln>
                <a:solidFill>
                  <a:srgbClr val="85D5E6"/>
                </a:solidFill>
                <a:effectLst/>
                <a:uLnTx/>
                <a:uFillTx/>
                <a:latin typeface="Times New Roman" panose="02020603050405020304" pitchFamily="18" charset="0"/>
                <a:ea typeface="+mn-ea"/>
                <a:cs typeface="Times New Roman" panose="02020603050405020304" pitchFamily="18" charset="0"/>
                <a:sym typeface="Arial"/>
              </a:rPr>
              <a:t>/etc/squid/squid.conf </a:t>
            </a:r>
            <a:r>
              <a:rPr kumimoji="0" lang="az-Latn-AZ" sz="1400" b="0"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a:rPr>
              <a:t>faylının </a:t>
            </a:r>
            <a:r>
              <a:rPr kumimoji="0" lang="az-Latn-AZ" sz="1400" b="0" i="0" u="none" strike="noStrike" kern="0" cap="none" spc="0" normalizeH="0" baseline="0" noProof="0" dirty="0">
                <a:ln>
                  <a:noFill/>
                </a:ln>
                <a:solidFill>
                  <a:srgbClr val="85D5E6"/>
                </a:solidFill>
                <a:effectLst/>
                <a:uLnTx/>
                <a:uFillTx/>
                <a:latin typeface="Times New Roman" panose="02020603050405020304" pitchFamily="18" charset="0"/>
                <a:ea typeface="+mn-ea"/>
                <a:cs typeface="Times New Roman" panose="02020603050405020304" pitchFamily="18" charset="0"/>
                <a:sym typeface="Arial"/>
              </a:rPr>
              <a:t>http_access </a:t>
            </a:r>
            <a:r>
              <a:rPr kumimoji="0" lang="az-Latn-AZ" sz="1400" b="0"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a:rPr>
              <a:t>bölməsinin yuxarı hissəsinə aşağıdakılar əlavə edilməlidir:</a:t>
            </a:r>
          </a:p>
        </p:txBody>
      </p:sp>
      <p:pic>
        <p:nvPicPr>
          <p:cNvPr id="7" name="Picture 4" descr="Görsel arama sorgu görüntüsü">
            <a:extLst>
              <a:ext uri="{FF2B5EF4-FFF2-40B4-BE49-F238E27FC236}">
                <a16:creationId xmlns:a16="http://schemas.microsoft.com/office/drawing/2014/main" id="{19214DB6-10F7-06E9-740B-972595E765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9754" y="2485548"/>
            <a:ext cx="2675862" cy="42585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5F3A811-EBE9-DAA1-06BC-E9624495CFDC}"/>
              </a:ext>
            </a:extLst>
          </p:cNvPr>
          <p:cNvSpPr txBox="1"/>
          <p:nvPr/>
        </p:nvSpPr>
        <p:spPr>
          <a:xfrm>
            <a:off x="958447" y="3555513"/>
            <a:ext cx="4696045" cy="1600438"/>
          </a:xfrm>
          <a:prstGeom prst="rect">
            <a:avLst/>
          </a:prstGeom>
          <a:noFill/>
        </p:spPr>
        <p:txBody>
          <a:bodyPr wrap="square">
            <a:spAutoFit/>
          </a:bodyPr>
          <a:lstStyle/>
          <a:p>
            <a:pPr algn="just">
              <a:buClr>
                <a:srgbClr val="000000"/>
              </a:buClr>
              <a:buFont typeface="Arial"/>
              <a:buNone/>
            </a:pPr>
            <a:r>
              <a:rPr lang="az-Latn-AZ" sz="1400" kern="0" dirty="0">
                <a:latin typeface="Times New Roman" panose="02020603050405020304" pitchFamily="18" charset="0"/>
                <a:cs typeface="Times New Roman" panose="02020603050405020304" pitchFamily="18" charset="0"/>
                <a:sym typeface="Arial"/>
              </a:rPr>
              <a:t>Squid-in giriş nəzarəti xüsusiyyətlərindən istifadə edərək Squid tərəfindən proksiləşdirilmiş İnternet xidmətlərindən istifadəni yalnız normal iş saatlarında mövcud olmaq üçün konfiqurasiya etmək olar. Məsələn, bazar ertəsindən cümə gününə qədər səhər saat 9:00-dan 17:00-a qədər işləyən və </a:t>
            </a:r>
            <a:r>
              <a:rPr lang="az-Latn-AZ" sz="1400" kern="0" dirty="0">
                <a:solidFill>
                  <a:schemeClr val="tx2">
                    <a:lumMod val="50000"/>
                    <a:lumOff val="50000"/>
                  </a:schemeClr>
                </a:solidFill>
                <a:latin typeface="Times New Roman" panose="02020603050405020304" pitchFamily="18" charset="0"/>
                <a:cs typeface="Times New Roman" panose="02020603050405020304" pitchFamily="18" charset="0"/>
                <a:sym typeface="Arial"/>
              </a:rPr>
              <a:t>10.1.42.0/24</a:t>
            </a:r>
            <a:r>
              <a:rPr lang="az-Latn-AZ" sz="1400" kern="0" dirty="0">
                <a:latin typeface="Times New Roman" panose="02020603050405020304" pitchFamily="18" charset="0"/>
                <a:cs typeface="Times New Roman" panose="02020603050405020304" pitchFamily="18" charset="0"/>
                <a:sym typeface="Arial"/>
              </a:rPr>
              <a:t> alt şəbəkəsindən istifadə edən biznes işçilərinin çıxışını təsvir edəcəyik:</a:t>
            </a:r>
          </a:p>
        </p:txBody>
      </p:sp>
      <p:cxnSp>
        <p:nvCxnSpPr>
          <p:cNvPr id="9" name="Google Shape;216;p44">
            <a:extLst>
              <a:ext uri="{FF2B5EF4-FFF2-40B4-BE49-F238E27FC236}">
                <a16:creationId xmlns:a16="http://schemas.microsoft.com/office/drawing/2014/main" id="{92CB67BF-DE63-7880-B14D-DB36EAE979DF}"/>
              </a:ext>
            </a:extLst>
          </p:cNvPr>
          <p:cNvCxnSpPr>
            <a:cxnSpLocks/>
          </p:cNvCxnSpPr>
          <p:nvPr/>
        </p:nvCxnSpPr>
        <p:spPr>
          <a:xfrm>
            <a:off x="818612" y="3642207"/>
            <a:ext cx="0" cy="2214234"/>
          </a:xfrm>
          <a:prstGeom prst="straightConnector1">
            <a:avLst/>
          </a:prstGeom>
          <a:noFill/>
          <a:ln w="19050" cap="flat" cmpd="sng">
            <a:solidFill>
              <a:srgbClr val="FFAB40"/>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10" name="Picture 6" descr="Görsel arama sorgu görüntüsü">
            <a:extLst>
              <a:ext uri="{FF2B5EF4-FFF2-40B4-BE49-F238E27FC236}">
                <a16:creationId xmlns:a16="http://schemas.microsoft.com/office/drawing/2014/main" id="{14631416-F04E-FDE2-FA75-8D25698AA2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4120" y="5237733"/>
            <a:ext cx="3384698" cy="61870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9C58630B-5D01-61A2-B810-23811077BDA5}"/>
              </a:ext>
            </a:extLst>
          </p:cNvPr>
          <p:cNvSpPr txBox="1"/>
          <p:nvPr/>
        </p:nvSpPr>
        <p:spPr>
          <a:xfrm>
            <a:off x="6028244" y="3894308"/>
            <a:ext cx="3118883" cy="738664"/>
          </a:xfrm>
          <a:prstGeom prst="rect">
            <a:avLst/>
          </a:prstGeom>
          <a:solidFill>
            <a:srgbClr val="001633"/>
          </a:solidFill>
          <a:ln w="38100" cap="flat" cmpd="sng" algn="ctr">
            <a:solidFill>
              <a:srgbClr val="FFFFFF"/>
            </a:solidFill>
            <a:prstDash val="solid"/>
          </a:ln>
          <a:effectLst>
            <a:outerShdw blurRad="40000" dist="20000" dir="5400000" rotWithShape="0">
              <a:srgbClr val="000000">
                <a:alpha val="38000"/>
              </a:srgbClr>
            </a:outerShdw>
          </a:effectLst>
        </p:spPr>
        <p:txBody>
          <a:bodyPr wrap="square">
            <a:spAutoFit/>
          </a:bodyPr>
          <a:lstStyle/>
          <a:p>
            <a:pPr marL="0" marR="0" lvl="0" indent="0" algn="just" defTabSz="914400" eaLnBrk="1" fontAlgn="auto" latinLnBrk="0" hangingPunct="1">
              <a:lnSpc>
                <a:spcPct val="100000"/>
              </a:lnSpc>
              <a:spcBef>
                <a:spcPts val="0"/>
              </a:spcBef>
              <a:spcAft>
                <a:spcPts val="0"/>
              </a:spcAft>
              <a:buClr>
                <a:srgbClr val="000000"/>
              </a:buClr>
              <a:buSzTx/>
              <a:buFont typeface="Arial"/>
              <a:buNone/>
              <a:tabLst/>
              <a:defRPr/>
            </a:pPr>
            <a:r>
              <a:rPr kumimoji="0" lang="az-Latn-AZ" sz="1400" b="0"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a:rPr>
              <a:t>Sonra, </a:t>
            </a:r>
            <a:r>
              <a:rPr kumimoji="0" lang="az-Latn-AZ" sz="1400" b="0" i="0" u="none" strike="noStrike" kern="0" cap="none" spc="0" normalizeH="0" baseline="0" noProof="0" dirty="0">
                <a:ln>
                  <a:noFill/>
                </a:ln>
                <a:solidFill>
                  <a:srgbClr val="85D5E6"/>
                </a:solidFill>
                <a:effectLst/>
                <a:uLnTx/>
                <a:uFillTx/>
                <a:latin typeface="Times New Roman" panose="02020603050405020304" pitchFamily="18" charset="0"/>
                <a:ea typeface="+mn-ea"/>
                <a:cs typeface="Times New Roman" panose="02020603050405020304" pitchFamily="18" charset="0"/>
                <a:sym typeface="Arial"/>
              </a:rPr>
              <a:t>/etc/squid/squid.conf </a:t>
            </a:r>
            <a:r>
              <a:rPr kumimoji="0" lang="az-Latn-AZ" sz="1400" b="0"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a:rPr>
              <a:t>faylının </a:t>
            </a:r>
            <a:r>
              <a:rPr kumimoji="0" lang="az-Latn-AZ" sz="1400" b="0" i="0" u="none" strike="noStrike" kern="0" cap="none" spc="0" normalizeH="0" baseline="0" noProof="0" dirty="0">
                <a:ln>
                  <a:noFill/>
                </a:ln>
                <a:solidFill>
                  <a:srgbClr val="85D5E6"/>
                </a:solidFill>
                <a:effectLst/>
                <a:uLnTx/>
                <a:uFillTx/>
                <a:latin typeface="Times New Roman" panose="02020603050405020304" pitchFamily="18" charset="0"/>
                <a:ea typeface="+mn-ea"/>
                <a:cs typeface="Times New Roman" panose="02020603050405020304" pitchFamily="18" charset="0"/>
                <a:sym typeface="Arial"/>
              </a:rPr>
              <a:t>http_access </a:t>
            </a:r>
            <a:r>
              <a:rPr kumimoji="0" lang="az-Latn-AZ" sz="1400" b="0"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a:rPr>
              <a:t>bölməsinin yuxarı hissəsinə aşağıdakılar əlavə edilməlidir:</a:t>
            </a:r>
          </a:p>
        </p:txBody>
      </p:sp>
      <p:pic>
        <p:nvPicPr>
          <p:cNvPr id="12" name="Picture 8" descr="Görsel arama sorgu görüntüsü">
            <a:extLst>
              <a:ext uri="{FF2B5EF4-FFF2-40B4-BE49-F238E27FC236}">
                <a16:creationId xmlns:a16="http://schemas.microsoft.com/office/drawing/2014/main" id="{D7D5579B-517D-645F-1016-38F1FC66BE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9754" y="4749324"/>
            <a:ext cx="2675862" cy="4258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sp>
        <p:nvSpPr>
          <p:cNvPr id="3" name="TextBox 2">
            <a:extLst>
              <a:ext uri="{FF2B5EF4-FFF2-40B4-BE49-F238E27FC236}">
                <a16:creationId xmlns:a16="http://schemas.microsoft.com/office/drawing/2014/main" id="{45AF1AF6-EA20-ED42-01FD-0B0C824A8776}"/>
              </a:ext>
            </a:extLst>
          </p:cNvPr>
          <p:cNvSpPr txBox="1"/>
          <p:nvPr/>
        </p:nvSpPr>
        <p:spPr>
          <a:xfrm>
            <a:off x="1542087" y="545375"/>
            <a:ext cx="2140688" cy="523220"/>
          </a:xfrm>
          <a:prstGeom prst="rect">
            <a:avLst/>
          </a:prstGeom>
          <a:noFill/>
        </p:spPr>
        <p:txBody>
          <a:bodyPr wrap="square" rtlCol="0">
            <a:spAutoFit/>
          </a:bodyPr>
          <a:lstStyle/>
          <a:p>
            <a:pPr>
              <a:buClr>
                <a:srgbClr val="000000"/>
              </a:buClr>
              <a:buFont typeface="Arial"/>
              <a:buNone/>
            </a:pPr>
            <a:r>
              <a:rPr lang="az-Latn-AZ" sz="2800" b="1" u="sng" kern="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Arial"/>
              </a:rPr>
              <a:t>Üstünlükləri</a:t>
            </a:r>
            <a:endParaRPr lang="en-US" sz="1400" b="1" u="sng" kern="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Arial"/>
            </a:endParaRPr>
          </a:p>
        </p:txBody>
      </p:sp>
      <p:sp>
        <p:nvSpPr>
          <p:cNvPr id="4" name="TextBox 3">
            <a:extLst>
              <a:ext uri="{FF2B5EF4-FFF2-40B4-BE49-F238E27FC236}">
                <a16:creationId xmlns:a16="http://schemas.microsoft.com/office/drawing/2014/main" id="{B423AF8C-6E1D-991F-D30A-E8D260760AA2}"/>
              </a:ext>
            </a:extLst>
          </p:cNvPr>
          <p:cNvSpPr txBox="1"/>
          <p:nvPr/>
        </p:nvSpPr>
        <p:spPr>
          <a:xfrm>
            <a:off x="1215515" y="1391575"/>
            <a:ext cx="4572000" cy="307777"/>
          </a:xfrm>
          <a:prstGeom prst="rect">
            <a:avLst/>
          </a:prstGeom>
          <a:noFill/>
        </p:spPr>
        <p:txBody>
          <a:bodyPr wrap="square">
            <a:spAutoFit/>
          </a:bodyPr>
          <a:lstStyle/>
          <a:p>
            <a:pPr>
              <a:buClr>
                <a:srgbClr val="000000"/>
              </a:buClr>
              <a:buFont typeface="Arial"/>
              <a:buNone/>
            </a:pPr>
            <a:r>
              <a:rPr lang="az-Latn-AZ" sz="1400" kern="0" dirty="0">
                <a:latin typeface="Times New Roman" panose="02020603050405020304" pitchFamily="18" charset="0"/>
                <a:cs typeface="Times New Roman" panose="02020603050405020304" pitchFamily="18" charset="0"/>
                <a:sym typeface="Arial"/>
              </a:rPr>
              <a:t>Squid </a:t>
            </a:r>
            <a:r>
              <a:rPr lang="az-Latn-AZ" sz="1400" kern="0" dirty="0" err="1">
                <a:latin typeface="Times New Roman" panose="02020603050405020304" pitchFamily="18" charset="0"/>
                <a:cs typeface="Times New Roman" panose="02020603050405020304" pitchFamily="18" charset="0"/>
                <a:sym typeface="Arial"/>
              </a:rPr>
              <a:t>proksi</a:t>
            </a:r>
            <a:r>
              <a:rPr lang="az-Latn-AZ" sz="1400" kern="0" dirty="0">
                <a:latin typeface="Times New Roman" panose="02020603050405020304" pitchFamily="18" charset="0"/>
                <a:cs typeface="Times New Roman" panose="02020603050405020304" pitchFamily="18" charset="0"/>
                <a:sym typeface="Arial"/>
              </a:rPr>
              <a:t> :</a:t>
            </a:r>
          </a:p>
        </p:txBody>
      </p:sp>
      <p:sp>
        <p:nvSpPr>
          <p:cNvPr id="5" name="TextBox 4">
            <a:extLst>
              <a:ext uri="{FF2B5EF4-FFF2-40B4-BE49-F238E27FC236}">
                <a16:creationId xmlns:a16="http://schemas.microsoft.com/office/drawing/2014/main" id="{CD0DA702-A4D4-4396-381B-384C91BA61DA}"/>
              </a:ext>
            </a:extLst>
          </p:cNvPr>
          <p:cNvSpPr txBox="1"/>
          <p:nvPr/>
        </p:nvSpPr>
        <p:spPr>
          <a:xfrm>
            <a:off x="1112878" y="1778556"/>
            <a:ext cx="8647810" cy="954107"/>
          </a:xfrm>
          <a:prstGeom prst="rect">
            <a:avLst/>
          </a:prstGeom>
          <a:noFill/>
        </p:spPr>
        <p:txBody>
          <a:bodyPr wrap="square">
            <a:spAutoFit/>
          </a:bodyPr>
          <a:lstStyle/>
          <a:p>
            <a:pPr marL="285750" indent="-285750">
              <a:buClr>
                <a:srgbClr val="FFFF00"/>
              </a:buClr>
              <a:buFont typeface="Wingdings" panose="05000000000000000000" pitchFamily="2" charset="2"/>
              <a:buChar char="ü"/>
            </a:pPr>
            <a:r>
              <a:rPr lang="az-Latn-AZ" sz="1400" kern="0" dirty="0">
                <a:latin typeface="Times New Roman" panose="02020603050405020304" pitchFamily="18" charset="0"/>
                <a:cs typeface="Times New Roman" panose="02020603050405020304" pitchFamily="18" charset="0"/>
                <a:sym typeface="Arial"/>
              </a:rPr>
              <a:t>Bir sıra trafikin optimallaşdırılması variantları, sadə parametrlər və yüksək performans təmin edir;</a:t>
            </a:r>
          </a:p>
          <a:p>
            <a:pPr marL="285750" indent="-285750">
              <a:buClr>
                <a:srgbClr val="FFFF00"/>
              </a:buClr>
              <a:buFont typeface="Wingdings" panose="05000000000000000000" pitchFamily="2" charset="2"/>
              <a:buChar char="ü"/>
            </a:pPr>
            <a:r>
              <a:rPr lang="az-Latn-AZ" sz="1400" kern="0" dirty="0">
                <a:latin typeface="Times New Roman" panose="02020603050405020304" pitchFamily="18" charset="0"/>
                <a:cs typeface="Times New Roman" panose="02020603050405020304" pitchFamily="18" charset="0"/>
                <a:sym typeface="Arial"/>
              </a:rPr>
              <a:t>Giriş idarəetmə mühitini təmin edir;</a:t>
            </a:r>
          </a:p>
          <a:p>
            <a:pPr marL="285750" indent="-285750">
              <a:buClr>
                <a:srgbClr val="FFFF00"/>
              </a:buClr>
              <a:buFont typeface="Wingdings" panose="05000000000000000000" pitchFamily="2" charset="2"/>
              <a:buChar char="ü"/>
            </a:pPr>
            <a:r>
              <a:rPr lang="az-Latn-AZ" sz="1400" kern="0" dirty="0">
                <a:latin typeface="Times New Roman" panose="02020603050405020304" pitchFamily="18" charset="0"/>
                <a:cs typeface="Times New Roman" panose="02020603050405020304" pitchFamily="18" charset="0"/>
                <a:sym typeface="Arial"/>
              </a:rPr>
              <a:t>Günlük sistemi təmizləyir;</a:t>
            </a:r>
          </a:p>
          <a:p>
            <a:pPr marL="285750" indent="-285750">
              <a:buClr>
                <a:srgbClr val="FFFF00"/>
              </a:buClr>
              <a:buFont typeface="Wingdings" panose="05000000000000000000" pitchFamily="2" charset="2"/>
              <a:buChar char="ü"/>
            </a:pPr>
            <a:r>
              <a:rPr lang="az-Latn-AZ" sz="1400" kern="0" dirty="0">
                <a:latin typeface="Times New Roman" panose="02020603050405020304" pitchFamily="18" charset="0"/>
                <a:cs typeface="Times New Roman" panose="02020603050405020304" pitchFamily="18" charset="0"/>
                <a:sym typeface="Arial"/>
              </a:rPr>
              <a:t>Girişin idarə edilməsi xüsusiyyətlərini təmin edir (autentifikasiya).</a:t>
            </a:r>
          </a:p>
        </p:txBody>
      </p:sp>
      <p:pic>
        <p:nvPicPr>
          <p:cNvPr id="2050" name="Picture 2" descr="Managed Squid as a Service | Elestio">
            <a:extLst>
              <a:ext uri="{FF2B5EF4-FFF2-40B4-BE49-F238E27FC236}">
                <a16:creationId xmlns:a16="http://schemas.microsoft.com/office/drawing/2014/main" id="{4813F06E-3A6D-2C08-4A8A-21111D68C2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2087" y="3022559"/>
            <a:ext cx="6475880" cy="35455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pic>
        <p:nvPicPr>
          <p:cNvPr id="3" name="Picture 2">
            <a:extLst>
              <a:ext uri="{FF2B5EF4-FFF2-40B4-BE49-F238E27FC236}">
                <a16:creationId xmlns:a16="http://schemas.microsoft.com/office/drawing/2014/main" id="{71B4AB0C-90E3-2F39-801C-F950FC4681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0188" y="2106920"/>
            <a:ext cx="6870073" cy="35946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0BA920B-C1A4-7207-5E78-78D23EEFA9DF}"/>
              </a:ext>
            </a:extLst>
          </p:cNvPr>
          <p:cNvSpPr txBox="1"/>
          <p:nvPr/>
        </p:nvSpPr>
        <p:spPr>
          <a:xfrm>
            <a:off x="1619006" y="700827"/>
            <a:ext cx="5305647" cy="1169551"/>
          </a:xfrm>
          <a:prstGeom prst="rect">
            <a:avLst/>
          </a:prstGeom>
          <a:noFill/>
        </p:spPr>
        <p:txBody>
          <a:bodyPr wrap="square">
            <a:spAutoFit/>
          </a:bodyPr>
          <a:lstStyle/>
          <a:p>
            <a:pPr algn="just">
              <a:buClr>
                <a:srgbClr val="000000"/>
              </a:buClr>
              <a:buFont typeface="Arial"/>
              <a:buNone/>
            </a:pPr>
            <a:r>
              <a:rPr lang="az-Latn-AZ" sz="1400" b="1" u="sng" kern="0" dirty="0">
                <a:latin typeface="Times New Roman" panose="02020603050405020304" pitchFamily="18" charset="0"/>
                <a:cs typeface="Times New Roman" panose="02020603050405020304" pitchFamily="18" charset="0"/>
                <a:sym typeface="Arial"/>
              </a:rPr>
              <a:t>Squid Proxy</a:t>
            </a:r>
            <a:r>
              <a:rPr lang="az-Latn-AZ" sz="1400" b="1" kern="0" dirty="0">
                <a:latin typeface="Times New Roman" panose="02020603050405020304" pitchFamily="18" charset="0"/>
                <a:cs typeface="Times New Roman" panose="02020603050405020304" pitchFamily="18" charset="0"/>
                <a:sym typeface="Arial"/>
              </a:rPr>
              <a:t> </a:t>
            </a:r>
            <a:r>
              <a:rPr lang="az-Latn-AZ" sz="1400" kern="0" dirty="0">
                <a:latin typeface="Times New Roman" panose="02020603050405020304" pitchFamily="18" charset="0"/>
                <a:cs typeface="Times New Roman" panose="02020603050405020304" pitchFamily="18" charset="0"/>
                <a:sym typeface="Arial"/>
              </a:rPr>
              <a:t>İnternet Provayderlərinə məzmunun keşləməsi vasitəsilə bant genişliyinə qənaət etməyə imkan verir. Keşlənmiş məzmun o deməkdir ki, verilənlər yerli olaraq təqdim edilir və istifadəçilər bunu tez-tez istifadə olunan məzmunla daha sürətli yükləmə sürəti vasitəsilə görəcəklər. </a:t>
            </a:r>
          </a:p>
        </p:txBody>
      </p:sp>
      <p:sp>
        <p:nvSpPr>
          <p:cNvPr id="5" name="TextBox 4">
            <a:extLst>
              <a:ext uri="{FF2B5EF4-FFF2-40B4-BE49-F238E27FC236}">
                <a16:creationId xmlns:a16="http://schemas.microsoft.com/office/drawing/2014/main" id="{DA9ECA48-B8CD-1438-13EA-B29E7FA0158E}"/>
              </a:ext>
            </a:extLst>
          </p:cNvPr>
          <p:cNvSpPr txBox="1"/>
          <p:nvPr/>
        </p:nvSpPr>
        <p:spPr>
          <a:xfrm>
            <a:off x="4271830" y="2272305"/>
            <a:ext cx="3955312" cy="954107"/>
          </a:xfrm>
          <a:prstGeom prst="rect">
            <a:avLst/>
          </a:prstGeom>
          <a:noFill/>
          <a:ln w="19050">
            <a:solidFill>
              <a:srgbClr val="00B0F0"/>
            </a:solidFill>
          </a:ln>
        </p:spPr>
        <p:txBody>
          <a:bodyPr wrap="square">
            <a:spAutoFit/>
          </a:bodyPr>
          <a:lstStyle/>
          <a:p>
            <a:pPr algn="just">
              <a:buClr>
                <a:srgbClr val="000000"/>
              </a:buClr>
              <a:buFont typeface="Arial"/>
              <a:buNone/>
            </a:pPr>
            <a:r>
              <a:rPr lang="az-Latn-AZ" sz="1400" b="1" kern="0" spc="50" dirty="0">
                <a:ln w="0"/>
                <a:solidFill>
                  <a:srgbClr val="0070C0"/>
                </a:solidFill>
                <a:latin typeface="Times New Roman" panose="02020603050405020304" pitchFamily="18" charset="0"/>
                <a:cs typeface="Times New Roman" panose="02020603050405020304" pitchFamily="18" charset="0"/>
                <a:sym typeface="Arial"/>
              </a:rPr>
              <a:t>100 istifadəçi eyni sorğunu Squid serverə göndərdikdə Squid server məlumatları yalnız bir dəfə alır və həmin məlumatları keşləyir, sonra isə 100 istifadəçiyə xidmət göstərir.</a:t>
            </a:r>
            <a:endParaRPr lang="en-US" sz="1400" b="1" kern="0" spc="50" dirty="0">
              <a:ln w="0"/>
              <a:solidFill>
                <a:srgbClr val="0070C0"/>
              </a:solidFill>
              <a:latin typeface="Arial"/>
              <a:cs typeface="Arial"/>
              <a:sym typeface="Arial"/>
            </a:endParaRPr>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sp>
        <p:nvSpPr>
          <p:cNvPr id="10" name="TextBox 9">
            <a:extLst>
              <a:ext uri="{FF2B5EF4-FFF2-40B4-BE49-F238E27FC236}">
                <a16:creationId xmlns:a16="http://schemas.microsoft.com/office/drawing/2014/main" id="{EC474DED-AEAD-24D6-5E8F-3E730269F4A3}"/>
              </a:ext>
            </a:extLst>
          </p:cNvPr>
          <p:cNvSpPr txBox="1"/>
          <p:nvPr/>
        </p:nvSpPr>
        <p:spPr>
          <a:xfrm>
            <a:off x="1636572" y="310489"/>
            <a:ext cx="7419738" cy="369332"/>
          </a:xfrm>
          <a:prstGeom prst="rect">
            <a:avLst/>
          </a:prstGeom>
          <a:noFill/>
        </p:spPr>
        <p:txBody>
          <a:bodyPr wrap="square">
            <a:spAutoFit/>
          </a:bodyPr>
          <a:lstStyle/>
          <a:p>
            <a:pPr algn="just">
              <a:buClr>
                <a:srgbClr val="000000"/>
              </a:buClr>
              <a:buFont typeface="Arial"/>
              <a:buNone/>
            </a:pPr>
            <a:r>
              <a:rPr lang="az-Latn-AZ" b="1" u="sng" kern="0" dirty="0">
                <a:solidFill>
                  <a:srgbClr val="FFFFFF"/>
                </a:solidFill>
                <a:highlight>
                  <a:srgbClr val="000000"/>
                </a:highlight>
                <a:uFill>
                  <a:solidFill>
                    <a:srgbClr val="FF0000"/>
                  </a:solidFill>
                </a:uFill>
                <a:latin typeface="Times New Roman" panose="02020603050405020304" pitchFamily="18" charset="0"/>
                <a:cs typeface="Times New Roman" panose="02020603050405020304" pitchFamily="18" charset="0"/>
                <a:sym typeface="Arial"/>
              </a:rPr>
              <a:t>Bəzi hallarda problemləri həll etmək üçün Squid-dən istifadə etmək olar:</a:t>
            </a:r>
            <a:endParaRPr lang="en-US" b="1" u="sng" kern="0" dirty="0">
              <a:solidFill>
                <a:srgbClr val="000000"/>
              </a:solidFill>
              <a:highlight>
                <a:srgbClr val="000000"/>
              </a:highlight>
              <a:uFill>
                <a:solidFill>
                  <a:srgbClr val="FF0000"/>
                </a:solidFill>
              </a:uFill>
              <a:latin typeface="Arial"/>
              <a:cs typeface="Arial"/>
              <a:sym typeface="Arial"/>
            </a:endParaRPr>
          </a:p>
        </p:txBody>
      </p:sp>
      <p:sp>
        <p:nvSpPr>
          <p:cNvPr id="11" name="TextBox 10">
            <a:extLst>
              <a:ext uri="{FF2B5EF4-FFF2-40B4-BE49-F238E27FC236}">
                <a16:creationId xmlns:a16="http://schemas.microsoft.com/office/drawing/2014/main" id="{EABBA935-1AAC-BBFB-57BD-9EC53112277B}"/>
              </a:ext>
            </a:extLst>
          </p:cNvPr>
          <p:cNvSpPr txBox="1"/>
          <p:nvPr/>
        </p:nvSpPr>
        <p:spPr>
          <a:xfrm>
            <a:off x="931324" y="1516981"/>
            <a:ext cx="4107713" cy="1384995"/>
          </a:xfrm>
          <a:prstGeom prst="rect">
            <a:avLst/>
          </a:prstGeom>
          <a:noFill/>
        </p:spPr>
        <p:txBody>
          <a:bodyPr wrap="square">
            <a:spAutoFit/>
          </a:bodyPr>
          <a:lstStyle/>
          <a:p>
            <a:pPr algn="just">
              <a:buClr>
                <a:srgbClr val="000000"/>
              </a:buClr>
              <a:buFont typeface="Arial"/>
              <a:buNone/>
            </a:pPr>
            <a:r>
              <a:rPr lang="az-Latn-AZ" sz="1400" b="1" u="sng" kern="0"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Arial"/>
              </a:rPr>
              <a:t>Problem 1:</a:t>
            </a:r>
            <a:r>
              <a:rPr lang="az-Latn-AZ" sz="1400" kern="0" dirty="0">
                <a:solidFill>
                  <a:srgbClr val="FFFFFF"/>
                </a:solidFill>
                <a:latin typeface="Times New Roman" panose="02020603050405020304" pitchFamily="18" charset="0"/>
                <a:cs typeface="Times New Roman" panose="02020603050405020304" pitchFamily="18" charset="0"/>
                <a:sym typeface="Arial"/>
              </a:rPr>
              <a:t> </a:t>
            </a:r>
            <a:r>
              <a:rPr lang="az-Latn-AZ" sz="1400" kern="0" dirty="0">
                <a:latin typeface="Times New Roman" panose="02020603050405020304" pitchFamily="18" charset="0"/>
                <a:cs typeface="Times New Roman" panose="02020603050405020304" pitchFamily="18" charset="0"/>
                <a:sym typeface="Arial"/>
              </a:rPr>
              <a:t>Mənim iki A və B şəbəkəm var, onlar bir-biri ilə əlaqə saxlaya bilmirlər. Ancaq ortada hər iki şəbəkə üçün </a:t>
            </a:r>
            <a:r>
              <a:rPr lang="az-Latn-AZ" sz="1400" kern="0" dirty="0" err="1">
                <a:latin typeface="Times New Roman" panose="02020603050405020304" pitchFamily="18" charset="0"/>
                <a:cs typeface="Times New Roman" panose="02020603050405020304" pitchFamily="18" charset="0"/>
                <a:sym typeface="Arial"/>
              </a:rPr>
              <a:t>erişilə</a:t>
            </a:r>
            <a:r>
              <a:rPr lang="az-Latn-AZ" sz="1400" kern="0" dirty="0">
                <a:latin typeface="Times New Roman" panose="02020603050405020304" pitchFamily="18" charset="0"/>
                <a:cs typeface="Times New Roman" panose="02020603050405020304" pitchFamily="18" charset="0"/>
                <a:sym typeface="Arial"/>
              </a:rPr>
              <a:t> bilən X serverim var. Beləliklə, mən </a:t>
            </a:r>
            <a:r>
              <a:rPr lang="az-Latn-AZ" sz="1400" kern="0" dirty="0" err="1">
                <a:latin typeface="Times New Roman" panose="02020603050405020304" pitchFamily="18" charset="0"/>
                <a:cs typeface="Times New Roman" panose="02020603050405020304" pitchFamily="18" charset="0"/>
                <a:sym typeface="Arial"/>
              </a:rPr>
              <a:t>Squid</a:t>
            </a:r>
            <a:r>
              <a:rPr lang="az-Latn-AZ" sz="1400" kern="0" dirty="0">
                <a:latin typeface="Times New Roman" panose="02020603050405020304" pitchFamily="18" charset="0"/>
                <a:cs typeface="Times New Roman" panose="02020603050405020304" pitchFamily="18" charset="0"/>
                <a:sym typeface="Arial"/>
              </a:rPr>
              <a:t>-i X server üzərinə quraşdırıram, sonra A şəbəkəsindəki hostlar B şəbəkəsindəki </a:t>
            </a:r>
            <a:r>
              <a:rPr lang="az-Latn-AZ" sz="1400" kern="0" dirty="0" err="1">
                <a:latin typeface="Times New Roman" panose="02020603050405020304" pitchFamily="18" charset="0"/>
                <a:cs typeface="Times New Roman" panose="02020603050405020304" pitchFamily="18" charset="0"/>
                <a:sym typeface="Arial"/>
              </a:rPr>
              <a:t>hostlarla</a:t>
            </a:r>
            <a:r>
              <a:rPr lang="az-Latn-AZ" sz="1400" kern="0" dirty="0">
                <a:latin typeface="Times New Roman" panose="02020603050405020304" pitchFamily="18" charset="0"/>
                <a:cs typeface="Times New Roman" panose="02020603050405020304" pitchFamily="18" charset="0"/>
                <a:sym typeface="Arial"/>
              </a:rPr>
              <a:t> X serveri üzərindən əlaqə saxlaya bilir. </a:t>
            </a:r>
            <a:endParaRPr lang="en-US" sz="1400" kern="0" dirty="0">
              <a:latin typeface="Arial"/>
              <a:cs typeface="Arial"/>
              <a:sym typeface="Arial"/>
            </a:endParaRPr>
          </a:p>
        </p:txBody>
      </p:sp>
      <p:pic>
        <p:nvPicPr>
          <p:cNvPr id="12" name="Picture 2">
            <a:extLst>
              <a:ext uri="{FF2B5EF4-FFF2-40B4-BE49-F238E27FC236}">
                <a16:creationId xmlns:a16="http://schemas.microsoft.com/office/drawing/2014/main" id="{2742946E-4A2C-481B-1B72-7F29133482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6441" y="1753265"/>
            <a:ext cx="4432818" cy="77972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236ED510-3B29-522A-0438-FC94D63F91DC}"/>
              </a:ext>
            </a:extLst>
          </p:cNvPr>
          <p:cNvSpPr txBox="1"/>
          <p:nvPr/>
        </p:nvSpPr>
        <p:spPr>
          <a:xfrm>
            <a:off x="6316309" y="2469193"/>
            <a:ext cx="2193851" cy="276999"/>
          </a:xfrm>
          <a:prstGeom prst="rect">
            <a:avLst/>
          </a:prstGeom>
          <a:noFill/>
        </p:spPr>
        <p:txBody>
          <a:bodyPr wrap="square">
            <a:spAutoFit/>
          </a:bodyPr>
          <a:lstStyle/>
          <a:p>
            <a:pPr>
              <a:buClr>
                <a:srgbClr val="000000"/>
              </a:buClr>
              <a:buFont typeface="Arial"/>
              <a:buNone/>
            </a:pPr>
            <a:r>
              <a:rPr lang="az-Latn-AZ" sz="1200" i="1" kern="0" dirty="0">
                <a:solidFill>
                  <a:srgbClr val="FFFFFF"/>
                </a:solidFill>
                <a:latin typeface="Times New Roman" panose="02020603050405020304" pitchFamily="18" charset="0"/>
                <a:cs typeface="Times New Roman" panose="02020603050405020304" pitchFamily="18" charset="0"/>
                <a:sym typeface="Arial"/>
              </a:rPr>
              <a:t>Squid ara proqram kimi işləyir</a:t>
            </a:r>
          </a:p>
        </p:txBody>
      </p:sp>
      <p:sp>
        <p:nvSpPr>
          <p:cNvPr id="14" name="TextBox 13">
            <a:extLst>
              <a:ext uri="{FF2B5EF4-FFF2-40B4-BE49-F238E27FC236}">
                <a16:creationId xmlns:a16="http://schemas.microsoft.com/office/drawing/2014/main" id="{337832A2-D807-BC99-158F-6FCC7AC3328B}"/>
              </a:ext>
            </a:extLst>
          </p:cNvPr>
          <p:cNvSpPr txBox="1"/>
          <p:nvPr/>
        </p:nvSpPr>
        <p:spPr>
          <a:xfrm>
            <a:off x="931324" y="3648248"/>
            <a:ext cx="4572000" cy="307777"/>
          </a:xfrm>
          <a:prstGeom prst="rect">
            <a:avLst/>
          </a:prstGeom>
          <a:noFill/>
        </p:spPr>
        <p:txBody>
          <a:bodyPr wrap="square">
            <a:spAutoFit/>
          </a:bodyPr>
          <a:lstStyle/>
          <a:p>
            <a:pPr>
              <a:buClr>
                <a:srgbClr val="000000"/>
              </a:buClr>
              <a:buFont typeface="Arial"/>
              <a:buNone/>
            </a:pPr>
            <a:r>
              <a:rPr lang="az-Latn-AZ" sz="1400" b="1" u="sng" kern="0"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Arial"/>
              </a:rPr>
              <a:t>Problem 2:</a:t>
            </a:r>
            <a:r>
              <a:rPr lang="az-Latn-AZ" sz="1400" kern="0" dirty="0">
                <a:solidFill>
                  <a:srgbClr val="FFFFFF"/>
                </a:solidFill>
                <a:latin typeface="Times New Roman" panose="02020603050405020304" pitchFamily="18" charset="0"/>
                <a:cs typeface="Times New Roman" panose="02020603050405020304" pitchFamily="18" charset="0"/>
                <a:sym typeface="Arial"/>
              </a:rPr>
              <a:t> </a:t>
            </a:r>
            <a:r>
              <a:rPr lang="az-Latn-AZ" sz="1400" kern="0" dirty="0">
                <a:latin typeface="Times New Roman" panose="02020603050405020304" pitchFamily="18" charset="0"/>
                <a:cs typeface="Times New Roman" panose="02020603050405020304" pitchFamily="18" charset="0"/>
                <a:sym typeface="Arial"/>
              </a:rPr>
              <a:t>Pis və qanunsuz veb saytları bloklayır. </a:t>
            </a:r>
            <a:endParaRPr lang="en-US" sz="1400" kern="0" dirty="0">
              <a:latin typeface="Arial"/>
              <a:cs typeface="Arial"/>
              <a:sym typeface="Arial"/>
            </a:endParaRPr>
          </a:p>
        </p:txBody>
      </p:sp>
      <p:pic>
        <p:nvPicPr>
          <p:cNvPr id="15" name="Picture 14">
            <a:extLst>
              <a:ext uri="{FF2B5EF4-FFF2-40B4-BE49-F238E27FC236}">
                <a16:creationId xmlns:a16="http://schemas.microsoft.com/office/drawing/2014/main" id="{58AAEBF5-3AB7-7302-030B-4510C15567EC}"/>
              </a:ext>
            </a:extLst>
          </p:cNvPr>
          <p:cNvPicPr>
            <a:picLocks noChangeAspect="1"/>
          </p:cNvPicPr>
          <p:nvPr/>
        </p:nvPicPr>
        <p:blipFill>
          <a:blip r:embed="rId4"/>
          <a:stretch>
            <a:fillRect/>
          </a:stretch>
        </p:blipFill>
        <p:spPr>
          <a:xfrm>
            <a:off x="5624622" y="3209752"/>
            <a:ext cx="3006836" cy="2932320"/>
          </a:xfrm>
          <a:prstGeom prst="rect">
            <a:avLst/>
          </a:prstGeom>
        </p:spPr>
      </p:pic>
      <p:sp>
        <p:nvSpPr>
          <p:cNvPr id="16" name="TextBox 15">
            <a:extLst>
              <a:ext uri="{FF2B5EF4-FFF2-40B4-BE49-F238E27FC236}">
                <a16:creationId xmlns:a16="http://schemas.microsoft.com/office/drawing/2014/main" id="{860F26A7-9DF4-4B0D-58DE-2DE355634D13}"/>
              </a:ext>
            </a:extLst>
          </p:cNvPr>
          <p:cNvSpPr txBox="1"/>
          <p:nvPr/>
        </p:nvSpPr>
        <p:spPr>
          <a:xfrm>
            <a:off x="4262933" y="5650746"/>
            <a:ext cx="1867786" cy="276999"/>
          </a:xfrm>
          <a:prstGeom prst="rect">
            <a:avLst/>
          </a:prstGeom>
          <a:noFill/>
        </p:spPr>
        <p:txBody>
          <a:bodyPr wrap="square">
            <a:spAutoFit/>
          </a:bodyPr>
          <a:lstStyle/>
          <a:p>
            <a:pPr>
              <a:buClr>
                <a:srgbClr val="000000"/>
              </a:buClr>
              <a:buFont typeface="Arial"/>
              <a:buNone/>
            </a:pPr>
            <a:r>
              <a:rPr lang="az-Latn-AZ" sz="1200" i="1" kern="0" dirty="0">
                <a:latin typeface="Times New Roman" panose="02020603050405020304" pitchFamily="18" charset="0"/>
                <a:cs typeface="Times New Roman" panose="02020603050405020304" pitchFamily="18" charset="0"/>
                <a:sym typeface="Arial"/>
              </a:rPr>
              <a:t>Squid firewall kimi işləyir</a:t>
            </a:r>
            <a:endParaRPr lang="en-US" sz="1200" kern="0" dirty="0">
              <a:latin typeface="Arial"/>
              <a:cs typeface="Arial"/>
              <a:sym typeface="Arial"/>
            </a:endParaRPr>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sp>
        <p:nvSpPr>
          <p:cNvPr id="3" name="Google Shape;10759;p79">
            <a:extLst>
              <a:ext uri="{FF2B5EF4-FFF2-40B4-BE49-F238E27FC236}">
                <a16:creationId xmlns:a16="http://schemas.microsoft.com/office/drawing/2014/main" id="{ECFB6EA5-DCA9-DDA5-126A-A70E47203154}"/>
              </a:ext>
            </a:extLst>
          </p:cNvPr>
          <p:cNvSpPr/>
          <p:nvPr/>
        </p:nvSpPr>
        <p:spPr>
          <a:xfrm>
            <a:off x="1181458" y="1163608"/>
            <a:ext cx="344097" cy="340033"/>
          </a:xfrm>
          <a:custGeom>
            <a:avLst/>
            <a:gdLst/>
            <a:ahLst/>
            <a:cxnLst/>
            <a:rect l="l" t="t" r="r" b="b"/>
            <a:pathLst>
              <a:path w="10836" h="10708" extrusionOk="0">
                <a:moveTo>
                  <a:pt x="7677" y="328"/>
                </a:moveTo>
                <a:cubicBezTo>
                  <a:pt x="7821" y="328"/>
                  <a:pt x="7960" y="378"/>
                  <a:pt x="8061" y="480"/>
                </a:cubicBezTo>
                <a:lnTo>
                  <a:pt x="10288" y="2706"/>
                </a:lnTo>
                <a:cubicBezTo>
                  <a:pt x="10502" y="2897"/>
                  <a:pt x="10490" y="3278"/>
                  <a:pt x="10252" y="3516"/>
                </a:cubicBezTo>
                <a:cubicBezTo>
                  <a:pt x="10125" y="3643"/>
                  <a:pt x="9961" y="3709"/>
                  <a:pt x="9802" y="3709"/>
                </a:cubicBezTo>
                <a:cubicBezTo>
                  <a:pt x="9661" y="3709"/>
                  <a:pt x="9524" y="3657"/>
                  <a:pt x="9418" y="3552"/>
                </a:cubicBezTo>
                <a:lnTo>
                  <a:pt x="8264" y="2385"/>
                </a:lnTo>
                <a:cubicBezTo>
                  <a:pt x="8234" y="2355"/>
                  <a:pt x="8195" y="2340"/>
                  <a:pt x="8156" y="2340"/>
                </a:cubicBezTo>
                <a:cubicBezTo>
                  <a:pt x="8118" y="2340"/>
                  <a:pt x="8079" y="2355"/>
                  <a:pt x="8049" y="2385"/>
                </a:cubicBezTo>
                <a:cubicBezTo>
                  <a:pt x="7990" y="2444"/>
                  <a:pt x="7990" y="2540"/>
                  <a:pt x="8049" y="2599"/>
                </a:cubicBezTo>
                <a:lnTo>
                  <a:pt x="8930" y="3480"/>
                </a:lnTo>
                <a:lnTo>
                  <a:pt x="7811" y="4587"/>
                </a:lnTo>
                <a:cubicBezTo>
                  <a:pt x="7549" y="4861"/>
                  <a:pt x="7382" y="5207"/>
                  <a:pt x="7335" y="5564"/>
                </a:cubicBezTo>
                <a:cubicBezTo>
                  <a:pt x="7287" y="5921"/>
                  <a:pt x="7371" y="6290"/>
                  <a:pt x="7561" y="6588"/>
                </a:cubicBezTo>
                <a:cubicBezTo>
                  <a:pt x="7930" y="7171"/>
                  <a:pt x="7859" y="7838"/>
                  <a:pt x="7728" y="8028"/>
                </a:cubicBezTo>
                <a:cubicBezTo>
                  <a:pt x="7644" y="8016"/>
                  <a:pt x="7406" y="7897"/>
                  <a:pt x="6751" y="7350"/>
                </a:cubicBezTo>
                <a:cubicBezTo>
                  <a:pt x="6335" y="6993"/>
                  <a:pt x="5835" y="6528"/>
                  <a:pt x="5311" y="6004"/>
                </a:cubicBezTo>
                <a:lnTo>
                  <a:pt x="5204" y="5897"/>
                </a:lnTo>
                <a:lnTo>
                  <a:pt x="5180" y="5873"/>
                </a:lnTo>
                <a:cubicBezTo>
                  <a:pt x="5085" y="5778"/>
                  <a:pt x="4977" y="5695"/>
                  <a:pt x="4894" y="5588"/>
                </a:cubicBezTo>
                <a:lnTo>
                  <a:pt x="4846" y="5540"/>
                </a:lnTo>
                <a:lnTo>
                  <a:pt x="4739" y="5445"/>
                </a:lnTo>
                <a:cubicBezTo>
                  <a:pt x="4239" y="4921"/>
                  <a:pt x="3763" y="4409"/>
                  <a:pt x="3406" y="3992"/>
                </a:cubicBezTo>
                <a:cubicBezTo>
                  <a:pt x="2858" y="3337"/>
                  <a:pt x="2751" y="3099"/>
                  <a:pt x="2715" y="3028"/>
                </a:cubicBezTo>
                <a:cubicBezTo>
                  <a:pt x="2805" y="2970"/>
                  <a:pt x="2986" y="2926"/>
                  <a:pt x="3210" y="2926"/>
                </a:cubicBezTo>
                <a:cubicBezTo>
                  <a:pt x="3492" y="2926"/>
                  <a:pt x="3843" y="2995"/>
                  <a:pt x="4168" y="3194"/>
                </a:cubicBezTo>
                <a:cubicBezTo>
                  <a:pt x="4416" y="3353"/>
                  <a:pt x="4715" y="3430"/>
                  <a:pt x="5014" y="3430"/>
                </a:cubicBezTo>
                <a:cubicBezTo>
                  <a:pt x="5073" y="3430"/>
                  <a:pt x="5133" y="3427"/>
                  <a:pt x="5192" y="3421"/>
                </a:cubicBezTo>
                <a:cubicBezTo>
                  <a:pt x="5549" y="3373"/>
                  <a:pt x="5894" y="3194"/>
                  <a:pt x="6156" y="2944"/>
                </a:cubicBezTo>
                <a:lnTo>
                  <a:pt x="7275" y="1825"/>
                </a:lnTo>
                <a:lnTo>
                  <a:pt x="7359" y="1909"/>
                </a:lnTo>
                <a:cubicBezTo>
                  <a:pt x="7394" y="1938"/>
                  <a:pt x="7433" y="1953"/>
                  <a:pt x="7470" y="1953"/>
                </a:cubicBezTo>
                <a:cubicBezTo>
                  <a:pt x="7507" y="1953"/>
                  <a:pt x="7543" y="1938"/>
                  <a:pt x="7573" y="1909"/>
                </a:cubicBezTo>
                <a:cubicBezTo>
                  <a:pt x="7633" y="1849"/>
                  <a:pt x="7633" y="1766"/>
                  <a:pt x="7573" y="1706"/>
                </a:cubicBezTo>
                <a:lnTo>
                  <a:pt x="7204" y="1337"/>
                </a:lnTo>
                <a:lnTo>
                  <a:pt x="7192" y="1313"/>
                </a:lnTo>
                <a:cubicBezTo>
                  <a:pt x="7025" y="1123"/>
                  <a:pt x="7013" y="837"/>
                  <a:pt x="7144" y="635"/>
                </a:cubicBezTo>
                <a:cubicBezTo>
                  <a:pt x="7168" y="587"/>
                  <a:pt x="7204" y="539"/>
                  <a:pt x="7228" y="516"/>
                </a:cubicBezTo>
                <a:cubicBezTo>
                  <a:pt x="7353" y="390"/>
                  <a:pt x="7518" y="328"/>
                  <a:pt x="7677" y="328"/>
                </a:cubicBezTo>
                <a:close/>
                <a:moveTo>
                  <a:pt x="7667" y="0"/>
                </a:moveTo>
                <a:cubicBezTo>
                  <a:pt x="7428" y="0"/>
                  <a:pt x="7186" y="93"/>
                  <a:pt x="7001" y="277"/>
                </a:cubicBezTo>
                <a:cubicBezTo>
                  <a:pt x="6644" y="635"/>
                  <a:pt x="6632" y="1194"/>
                  <a:pt x="6978" y="1539"/>
                </a:cubicBezTo>
                <a:lnTo>
                  <a:pt x="7037" y="1599"/>
                </a:lnTo>
                <a:lnTo>
                  <a:pt x="5918" y="2718"/>
                </a:lnTo>
                <a:cubicBezTo>
                  <a:pt x="5651" y="2985"/>
                  <a:pt x="5292" y="3125"/>
                  <a:pt x="4942" y="3125"/>
                </a:cubicBezTo>
                <a:cubicBezTo>
                  <a:pt x="4715" y="3125"/>
                  <a:pt x="4491" y="3066"/>
                  <a:pt x="4299" y="2944"/>
                </a:cubicBezTo>
                <a:cubicBezTo>
                  <a:pt x="3965" y="2730"/>
                  <a:pt x="3596" y="2623"/>
                  <a:pt x="3215" y="2623"/>
                </a:cubicBezTo>
                <a:cubicBezTo>
                  <a:pt x="2882" y="2623"/>
                  <a:pt x="2584" y="2706"/>
                  <a:pt x="2453" y="2849"/>
                </a:cubicBezTo>
                <a:cubicBezTo>
                  <a:pt x="2322" y="2980"/>
                  <a:pt x="2418" y="3194"/>
                  <a:pt x="2525" y="3385"/>
                </a:cubicBezTo>
                <a:cubicBezTo>
                  <a:pt x="2632" y="3564"/>
                  <a:pt x="2810" y="3802"/>
                  <a:pt x="3049" y="4087"/>
                </a:cubicBezTo>
                <a:cubicBezTo>
                  <a:pt x="3394" y="4504"/>
                  <a:pt x="3846" y="5004"/>
                  <a:pt x="4370" y="5540"/>
                </a:cubicBezTo>
                <a:lnTo>
                  <a:pt x="3180" y="6731"/>
                </a:lnTo>
                <a:cubicBezTo>
                  <a:pt x="2763" y="7147"/>
                  <a:pt x="2346" y="7600"/>
                  <a:pt x="1965" y="8064"/>
                </a:cubicBezTo>
                <a:lnTo>
                  <a:pt x="84" y="10291"/>
                </a:lnTo>
                <a:cubicBezTo>
                  <a:pt x="1" y="10398"/>
                  <a:pt x="1" y="10541"/>
                  <a:pt x="84" y="10636"/>
                </a:cubicBezTo>
                <a:cubicBezTo>
                  <a:pt x="132" y="10683"/>
                  <a:pt x="191" y="10707"/>
                  <a:pt x="251" y="10707"/>
                </a:cubicBezTo>
                <a:cubicBezTo>
                  <a:pt x="310" y="10707"/>
                  <a:pt x="370" y="10683"/>
                  <a:pt x="429" y="10636"/>
                </a:cubicBezTo>
                <a:lnTo>
                  <a:pt x="2572" y="8850"/>
                </a:lnTo>
                <a:cubicBezTo>
                  <a:pt x="2632" y="8790"/>
                  <a:pt x="2644" y="8695"/>
                  <a:pt x="2584" y="8636"/>
                </a:cubicBezTo>
                <a:cubicBezTo>
                  <a:pt x="2552" y="8603"/>
                  <a:pt x="2512" y="8585"/>
                  <a:pt x="2472" y="8585"/>
                </a:cubicBezTo>
                <a:cubicBezTo>
                  <a:pt x="2440" y="8585"/>
                  <a:pt x="2409" y="8597"/>
                  <a:pt x="2382" y="8624"/>
                </a:cubicBezTo>
                <a:lnTo>
                  <a:pt x="739" y="9993"/>
                </a:lnTo>
                <a:lnTo>
                  <a:pt x="2191" y="8266"/>
                </a:lnTo>
                <a:cubicBezTo>
                  <a:pt x="2560" y="7826"/>
                  <a:pt x="2965" y="7374"/>
                  <a:pt x="3382" y="6957"/>
                </a:cubicBezTo>
                <a:lnTo>
                  <a:pt x="4573" y="5766"/>
                </a:lnTo>
                <a:lnTo>
                  <a:pt x="4585" y="5778"/>
                </a:lnTo>
                <a:lnTo>
                  <a:pt x="4763" y="5957"/>
                </a:lnTo>
                <a:lnTo>
                  <a:pt x="4942" y="6135"/>
                </a:lnTo>
                <a:lnTo>
                  <a:pt x="4954" y="6159"/>
                </a:lnTo>
                <a:lnTo>
                  <a:pt x="3763" y="7350"/>
                </a:lnTo>
                <a:cubicBezTo>
                  <a:pt x="3537" y="7564"/>
                  <a:pt x="3299" y="7790"/>
                  <a:pt x="3084" y="8005"/>
                </a:cubicBezTo>
                <a:cubicBezTo>
                  <a:pt x="3025" y="8064"/>
                  <a:pt x="3025" y="8147"/>
                  <a:pt x="3061" y="8207"/>
                </a:cubicBezTo>
                <a:cubicBezTo>
                  <a:pt x="3092" y="8238"/>
                  <a:pt x="3133" y="8253"/>
                  <a:pt x="3174" y="8253"/>
                </a:cubicBezTo>
                <a:cubicBezTo>
                  <a:pt x="3211" y="8253"/>
                  <a:pt x="3247" y="8241"/>
                  <a:pt x="3275" y="8219"/>
                </a:cubicBezTo>
                <a:cubicBezTo>
                  <a:pt x="3513" y="8005"/>
                  <a:pt x="3751" y="7778"/>
                  <a:pt x="3977" y="7552"/>
                </a:cubicBezTo>
                <a:lnTo>
                  <a:pt x="5168" y="6361"/>
                </a:lnTo>
                <a:cubicBezTo>
                  <a:pt x="5704" y="6885"/>
                  <a:pt x="6204" y="7350"/>
                  <a:pt x="6620" y="7683"/>
                </a:cubicBezTo>
                <a:cubicBezTo>
                  <a:pt x="6906" y="7921"/>
                  <a:pt x="7144" y="8088"/>
                  <a:pt x="7323" y="8207"/>
                </a:cubicBezTo>
                <a:cubicBezTo>
                  <a:pt x="7442" y="8278"/>
                  <a:pt x="7573" y="8362"/>
                  <a:pt x="7692" y="8362"/>
                </a:cubicBezTo>
                <a:cubicBezTo>
                  <a:pt x="7752" y="8362"/>
                  <a:pt x="7811" y="8338"/>
                  <a:pt x="7859" y="8302"/>
                </a:cubicBezTo>
                <a:cubicBezTo>
                  <a:pt x="7990" y="8159"/>
                  <a:pt x="8073" y="7862"/>
                  <a:pt x="8073" y="7540"/>
                </a:cubicBezTo>
                <a:cubicBezTo>
                  <a:pt x="8073" y="7171"/>
                  <a:pt x="7954" y="6778"/>
                  <a:pt x="7763" y="6457"/>
                </a:cubicBezTo>
                <a:cubicBezTo>
                  <a:pt x="7454" y="5957"/>
                  <a:pt x="7549" y="5278"/>
                  <a:pt x="7990" y="4826"/>
                </a:cubicBezTo>
                <a:lnTo>
                  <a:pt x="9109" y="3718"/>
                </a:lnTo>
                <a:lnTo>
                  <a:pt x="9168" y="3778"/>
                </a:lnTo>
                <a:lnTo>
                  <a:pt x="9192" y="3802"/>
                </a:lnTo>
                <a:lnTo>
                  <a:pt x="9216" y="3814"/>
                </a:lnTo>
                <a:cubicBezTo>
                  <a:pt x="9216" y="3814"/>
                  <a:pt x="9228" y="3837"/>
                  <a:pt x="9240" y="3837"/>
                </a:cubicBezTo>
                <a:cubicBezTo>
                  <a:pt x="9240" y="3837"/>
                  <a:pt x="9252" y="3837"/>
                  <a:pt x="9252" y="3849"/>
                </a:cubicBezTo>
                <a:lnTo>
                  <a:pt x="9264" y="3861"/>
                </a:lnTo>
                <a:cubicBezTo>
                  <a:pt x="9264" y="3861"/>
                  <a:pt x="9287" y="3861"/>
                  <a:pt x="9287" y="3873"/>
                </a:cubicBezTo>
                <a:lnTo>
                  <a:pt x="9299" y="3897"/>
                </a:lnTo>
                <a:cubicBezTo>
                  <a:pt x="9299" y="3897"/>
                  <a:pt x="9311" y="3897"/>
                  <a:pt x="9311" y="3909"/>
                </a:cubicBezTo>
                <a:lnTo>
                  <a:pt x="9323" y="3921"/>
                </a:lnTo>
                <a:cubicBezTo>
                  <a:pt x="9323" y="3921"/>
                  <a:pt x="9347" y="3921"/>
                  <a:pt x="9347" y="3933"/>
                </a:cubicBezTo>
                <a:lnTo>
                  <a:pt x="9359" y="3956"/>
                </a:lnTo>
                <a:cubicBezTo>
                  <a:pt x="9359" y="3956"/>
                  <a:pt x="9371" y="3956"/>
                  <a:pt x="9371" y="3968"/>
                </a:cubicBezTo>
                <a:cubicBezTo>
                  <a:pt x="9371" y="3968"/>
                  <a:pt x="9383" y="3968"/>
                  <a:pt x="9383" y="3980"/>
                </a:cubicBezTo>
                <a:cubicBezTo>
                  <a:pt x="9383" y="3980"/>
                  <a:pt x="9407" y="3980"/>
                  <a:pt x="9407" y="3992"/>
                </a:cubicBezTo>
                <a:cubicBezTo>
                  <a:pt x="9407" y="3992"/>
                  <a:pt x="9418" y="3992"/>
                  <a:pt x="9418" y="4016"/>
                </a:cubicBezTo>
                <a:lnTo>
                  <a:pt x="9430" y="4016"/>
                </a:lnTo>
                <a:cubicBezTo>
                  <a:pt x="9430" y="4016"/>
                  <a:pt x="9442" y="4016"/>
                  <a:pt x="9442" y="4028"/>
                </a:cubicBezTo>
                <a:lnTo>
                  <a:pt x="9942" y="4028"/>
                </a:lnTo>
                <a:cubicBezTo>
                  <a:pt x="9954" y="4028"/>
                  <a:pt x="9954" y="4028"/>
                  <a:pt x="9966" y="4016"/>
                </a:cubicBezTo>
                <a:lnTo>
                  <a:pt x="9978" y="4016"/>
                </a:lnTo>
                <a:cubicBezTo>
                  <a:pt x="10002" y="4016"/>
                  <a:pt x="10002" y="4016"/>
                  <a:pt x="10014" y="3992"/>
                </a:cubicBezTo>
                <a:lnTo>
                  <a:pt x="10026" y="3992"/>
                </a:lnTo>
                <a:cubicBezTo>
                  <a:pt x="10038" y="3992"/>
                  <a:pt x="10038" y="3992"/>
                  <a:pt x="10061" y="3980"/>
                </a:cubicBezTo>
                <a:cubicBezTo>
                  <a:pt x="10061" y="3980"/>
                  <a:pt x="10073" y="3980"/>
                  <a:pt x="10073" y="3968"/>
                </a:cubicBezTo>
                <a:cubicBezTo>
                  <a:pt x="10085" y="3968"/>
                  <a:pt x="10085" y="3956"/>
                  <a:pt x="10097" y="3956"/>
                </a:cubicBezTo>
                <a:cubicBezTo>
                  <a:pt x="10097" y="3956"/>
                  <a:pt x="10121" y="3956"/>
                  <a:pt x="10121" y="3933"/>
                </a:cubicBezTo>
                <a:cubicBezTo>
                  <a:pt x="10133" y="3933"/>
                  <a:pt x="10133" y="3921"/>
                  <a:pt x="10145" y="3921"/>
                </a:cubicBezTo>
                <a:cubicBezTo>
                  <a:pt x="10145" y="3921"/>
                  <a:pt x="10157" y="3921"/>
                  <a:pt x="10157" y="3909"/>
                </a:cubicBezTo>
                <a:cubicBezTo>
                  <a:pt x="10180" y="3909"/>
                  <a:pt x="10180" y="3897"/>
                  <a:pt x="10192" y="3897"/>
                </a:cubicBezTo>
                <a:cubicBezTo>
                  <a:pt x="10192" y="3897"/>
                  <a:pt x="10204" y="3897"/>
                  <a:pt x="10204" y="3873"/>
                </a:cubicBezTo>
                <a:cubicBezTo>
                  <a:pt x="10216" y="3873"/>
                  <a:pt x="10216" y="3861"/>
                  <a:pt x="10240" y="3861"/>
                </a:cubicBezTo>
                <a:cubicBezTo>
                  <a:pt x="10240" y="3861"/>
                  <a:pt x="10252" y="3861"/>
                  <a:pt x="10252" y="3849"/>
                </a:cubicBezTo>
                <a:cubicBezTo>
                  <a:pt x="10264" y="3849"/>
                  <a:pt x="10264" y="3837"/>
                  <a:pt x="10276" y="3837"/>
                </a:cubicBezTo>
                <a:cubicBezTo>
                  <a:pt x="10276" y="3837"/>
                  <a:pt x="10300" y="3837"/>
                  <a:pt x="10300" y="3814"/>
                </a:cubicBezTo>
                <a:cubicBezTo>
                  <a:pt x="10311" y="3814"/>
                  <a:pt x="10311" y="3802"/>
                  <a:pt x="10323" y="3802"/>
                </a:cubicBezTo>
                <a:cubicBezTo>
                  <a:pt x="10323" y="3802"/>
                  <a:pt x="10335" y="3802"/>
                  <a:pt x="10335" y="3790"/>
                </a:cubicBezTo>
                <a:cubicBezTo>
                  <a:pt x="10359" y="3778"/>
                  <a:pt x="10371" y="3778"/>
                  <a:pt x="10371" y="3754"/>
                </a:cubicBezTo>
                <a:cubicBezTo>
                  <a:pt x="10823" y="3373"/>
                  <a:pt x="10835" y="2802"/>
                  <a:pt x="10490" y="2468"/>
                </a:cubicBezTo>
                <a:lnTo>
                  <a:pt x="8275" y="242"/>
                </a:lnTo>
                <a:cubicBezTo>
                  <a:pt x="8109" y="81"/>
                  <a:pt x="7889" y="0"/>
                  <a:pt x="7667" y="0"/>
                </a:cubicBezTo>
                <a:close/>
              </a:path>
            </a:pathLst>
          </a:custGeom>
          <a:solidFill>
            <a:srgbClr val="657E93"/>
          </a:solidFill>
          <a:ln>
            <a:solidFill>
              <a:srgbClr val="C000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1D17796A-5053-B11E-1519-639999A8634D}"/>
              </a:ext>
            </a:extLst>
          </p:cNvPr>
          <p:cNvSpPr txBox="1"/>
          <p:nvPr/>
        </p:nvSpPr>
        <p:spPr>
          <a:xfrm>
            <a:off x="1548415" y="1056775"/>
            <a:ext cx="3276600" cy="523220"/>
          </a:xfrm>
          <a:prstGeom prst="rect">
            <a:avLst/>
          </a:prstGeom>
          <a:noFill/>
        </p:spPr>
        <p:txBody>
          <a:bodyPr wrap="square" rtlCol="0">
            <a:spAutoFit/>
          </a:bodyPr>
          <a:lstStyle/>
          <a:p>
            <a:r>
              <a:rPr lang="az-Latn-AZ" sz="28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Əlavə məlumatlar</a:t>
            </a:r>
            <a:endParaRPr lang="en-US" sz="28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3D5A180-0D1C-309B-3B1B-1DD4949037A5}"/>
              </a:ext>
            </a:extLst>
          </p:cNvPr>
          <p:cNvSpPr txBox="1"/>
          <p:nvPr/>
        </p:nvSpPr>
        <p:spPr>
          <a:xfrm>
            <a:off x="1181458" y="1981662"/>
            <a:ext cx="8015489" cy="2510303"/>
          </a:xfrm>
          <a:prstGeom prst="rect">
            <a:avLst/>
          </a:prstGeom>
          <a:noFill/>
        </p:spPr>
        <p:txBody>
          <a:bodyPr wrap="square" rtlCol="0">
            <a:spAutoFit/>
          </a:bodyPr>
          <a:lstStyle/>
          <a:p>
            <a:r>
              <a:rPr lang="az-Latn-AZ" sz="1600" u="sng" dirty="0">
                <a:solidFill>
                  <a:schemeClr val="bg1"/>
                </a:solidFill>
                <a:highlight>
                  <a:srgbClr val="808080"/>
                </a:highlight>
                <a:latin typeface="Times New Roman" panose="02020603050405020304" pitchFamily="18" charset="0"/>
                <a:cs typeface="Times New Roman" panose="02020603050405020304" pitchFamily="18" charset="0"/>
              </a:rPr>
              <a:t>Yaradıcılar:</a:t>
            </a:r>
            <a:r>
              <a:rPr lang="az-Latn-AZ" sz="1600" dirty="0">
                <a:solidFill>
                  <a:schemeClr val="bg1"/>
                </a:solidFill>
                <a:latin typeface="Times New Roman" panose="02020603050405020304" pitchFamily="18" charset="0"/>
                <a:cs typeface="Times New Roman" panose="02020603050405020304" pitchFamily="18" charset="0"/>
              </a:rPr>
              <a:t> </a:t>
            </a:r>
            <a:r>
              <a:rPr lang="az-Latn-AZ" sz="1600" dirty="0">
                <a:latin typeface="Times New Roman" panose="02020603050405020304" pitchFamily="18" charset="0"/>
                <a:cs typeface="Times New Roman" panose="02020603050405020304" pitchFamily="18" charset="0"/>
              </a:rPr>
              <a:t>Duane Wessels, Henrik Nordström, Amos Jeffries, Alex Rousskov, Francesco Chemolli, Robert Collins, Guido Serassio və könüllülər</a:t>
            </a:r>
          </a:p>
          <a:p>
            <a:pPr>
              <a:lnSpc>
                <a:spcPct val="150000"/>
              </a:lnSpc>
            </a:pPr>
            <a:r>
              <a:rPr lang="az-Latn-AZ" sz="1600" u="sng" dirty="0">
                <a:solidFill>
                  <a:schemeClr val="bg1"/>
                </a:solidFill>
                <a:highlight>
                  <a:srgbClr val="808080"/>
                </a:highlight>
                <a:latin typeface="Times New Roman" panose="02020603050405020304" pitchFamily="18" charset="0"/>
                <a:cs typeface="Times New Roman" panose="02020603050405020304" pitchFamily="18" charset="0"/>
              </a:rPr>
              <a:t>İlkin buraxılış:</a:t>
            </a:r>
            <a:r>
              <a:rPr lang="az-Latn-AZ" sz="1600" dirty="0">
                <a:solidFill>
                  <a:schemeClr val="bg1"/>
                </a:solidFill>
                <a:latin typeface="Times New Roman" panose="02020603050405020304" pitchFamily="18" charset="0"/>
                <a:cs typeface="Times New Roman" panose="02020603050405020304" pitchFamily="18" charset="0"/>
              </a:rPr>
              <a:t> </a:t>
            </a:r>
            <a:r>
              <a:rPr lang="az-Latn-AZ" sz="1600" dirty="0">
                <a:latin typeface="Times New Roman" panose="02020603050405020304" pitchFamily="18" charset="0"/>
                <a:cs typeface="Times New Roman" panose="02020603050405020304" pitchFamily="18" charset="0"/>
              </a:rPr>
              <a:t>İyul, 1996 (Versiya 1.0.0)</a:t>
            </a:r>
          </a:p>
          <a:p>
            <a:pPr>
              <a:lnSpc>
                <a:spcPct val="150000"/>
              </a:lnSpc>
            </a:pPr>
            <a:r>
              <a:rPr lang="az-Latn-AZ" sz="1600" u="sng" dirty="0">
                <a:solidFill>
                  <a:schemeClr val="bg1"/>
                </a:solidFill>
                <a:highlight>
                  <a:srgbClr val="808080"/>
                </a:highlight>
                <a:latin typeface="Times New Roman" panose="02020603050405020304" pitchFamily="18" charset="0"/>
                <a:cs typeface="Times New Roman" panose="02020603050405020304" pitchFamily="18" charset="0"/>
              </a:rPr>
              <a:t>Son buraxılış:</a:t>
            </a:r>
            <a:r>
              <a:rPr lang="az-Latn-AZ" sz="1600" dirty="0">
                <a:solidFill>
                  <a:schemeClr val="bg1"/>
                </a:solidFill>
                <a:latin typeface="Times New Roman" panose="02020603050405020304" pitchFamily="18" charset="0"/>
                <a:cs typeface="Times New Roman" panose="02020603050405020304" pitchFamily="18" charset="0"/>
              </a:rPr>
              <a:t> </a:t>
            </a:r>
            <a:r>
              <a:rPr lang="az-Latn-AZ" sz="1600" dirty="0">
                <a:latin typeface="Times New Roman" panose="02020603050405020304" pitchFamily="18" charset="0"/>
                <a:cs typeface="Times New Roman" panose="02020603050405020304" pitchFamily="18" charset="0"/>
              </a:rPr>
              <a:t>Daim yenilənir (</a:t>
            </a:r>
            <a:r>
              <a:rPr lang="az-Latn-AZ" sz="1600" dirty="0" err="1">
                <a:latin typeface="Times New Roman" panose="02020603050405020304" pitchFamily="18" charset="0"/>
                <a:cs typeface="Times New Roman" panose="02020603050405020304" pitchFamily="18" charset="0"/>
              </a:rPr>
              <a:t>rolling</a:t>
            </a:r>
            <a:r>
              <a:rPr lang="az-Latn-AZ" sz="1600" dirty="0">
                <a:latin typeface="Times New Roman" panose="02020603050405020304" pitchFamily="18" charset="0"/>
                <a:cs typeface="Times New Roman" panose="02020603050405020304" pitchFamily="18" charset="0"/>
              </a:rPr>
              <a:t> </a:t>
            </a:r>
            <a:r>
              <a:rPr lang="az-Latn-AZ" sz="1600" dirty="0" err="1">
                <a:latin typeface="Times New Roman" panose="02020603050405020304" pitchFamily="18" charset="0"/>
                <a:cs typeface="Times New Roman" panose="02020603050405020304" pitchFamily="18" charset="0"/>
              </a:rPr>
              <a:t>release</a:t>
            </a:r>
            <a:r>
              <a:rPr lang="az-Latn-AZ" sz="1600" dirty="0">
                <a:latin typeface="Times New Roman" panose="02020603050405020304" pitchFamily="18" charset="0"/>
                <a:cs typeface="Times New Roman" panose="02020603050405020304" pitchFamily="18" charset="0"/>
              </a:rPr>
              <a:t>)</a:t>
            </a:r>
          </a:p>
          <a:p>
            <a:pPr>
              <a:lnSpc>
                <a:spcPct val="150000"/>
              </a:lnSpc>
            </a:pPr>
            <a:r>
              <a:rPr lang="az-Latn-AZ" sz="1600" u="sng" dirty="0">
                <a:solidFill>
                  <a:schemeClr val="bg1"/>
                </a:solidFill>
                <a:highlight>
                  <a:srgbClr val="808080"/>
                </a:highlight>
                <a:latin typeface="Times New Roman" panose="02020603050405020304" pitchFamily="18" charset="0"/>
                <a:cs typeface="Times New Roman" panose="02020603050405020304" pitchFamily="18" charset="0"/>
              </a:rPr>
              <a:t>Yazıldığı dil:</a:t>
            </a:r>
            <a:r>
              <a:rPr lang="az-Latn-AZ" sz="1600" dirty="0">
                <a:solidFill>
                  <a:schemeClr val="bg1"/>
                </a:solidFill>
                <a:latin typeface="Times New Roman" panose="02020603050405020304" pitchFamily="18" charset="0"/>
                <a:cs typeface="Times New Roman" panose="02020603050405020304" pitchFamily="18" charset="0"/>
              </a:rPr>
              <a:t> </a:t>
            </a:r>
            <a:r>
              <a:rPr lang="az-Latn-AZ" sz="1600" dirty="0">
                <a:latin typeface="Times New Roman" panose="02020603050405020304" pitchFamily="18" charset="0"/>
                <a:cs typeface="Times New Roman" panose="02020603050405020304" pitchFamily="18" charset="0"/>
              </a:rPr>
              <a:t>C++</a:t>
            </a:r>
          </a:p>
          <a:p>
            <a:r>
              <a:rPr lang="az-Latn-AZ" sz="1600" u="sng" dirty="0">
                <a:solidFill>
                  <a:schemeClr val="bg1"/>
                </a:solidFill>
                <a:highlight>
                  <a:srgbClr val="808080"/>
                </a:highlight>
                <a:latin typeface="Times New Roman" panose="02020603050405020304" pitchFamily="18" charset="0"/>
                <a:cs typeface="Times New Roman" panose="02020603050405020304" pitchFamily="18" charset="0"/>
              </a:rPr>
              <a:t>Dəstəklədiyi əməliyyat sistemləri:</a:t>
            </a:r>
            <a:r>
              <a:rPr lang="az-Latn-AZ" sz="1600" dirty="0">
                <a:solidFill>
                  <a:schemeClr val="bg1"/>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AIX, IRIX, Linux, Digital Unix, BSDI, FreeBSD, NetBSD, OpenBSD, HP-UX, macOS, </a:t>
            </a:r>
            <a:r>
              <a:rPr lang="en-US" sz="1600" dirty="0" err="1">
                <a:latin typeface="Times New Roman" panose="02020603050405020304" pitchFamily="18" charset="0"/>
                <a:cs typeface="Times New Roman" panose="02020603050405020304" pitchFamily="18" charset="0"/>
              </a:rPr>
              <a:t>NeXTStep</a:t>
            </a:r>
            <a:r>
              <a:rPr lang="en-US" sz="1600" dirty="0">
                <a:latin typeface="Times New Roman" panose="02020603050405020304" pitchFamily="18" charset="0"/>
                <a:cs typeface="Times New Roman" panose="02020603050405020304" pitchFamily="18" charset="0"/>
              </a:rPr>
              <a:t>, OS/2, SCO </a:t>
            </a:r>
            <a:r>
              <a:rPr lang="en-US" sz="1600" dirty="0" err="1">
                <a:latin typeface="Times New Roman" panose="02020603050405020304" pitchFamily="18" charset="0"/>
                <a:cs typeface="Times New Roman" panose="02020603050405020304" pitchFamily="18" charset="0"/>
              </a:rPr>
              <a:t>OpenServer</a:t>
            </a:r>
            <a:r>
              <a:rPr lang="en-US" sz="1600" dirty="0">
                <a:latin typeface="Times New Roman" panose="02020603050405020304" pitchFamily="18" charset="0"/>
                <a:cs typeface="Times New Roman" panose="02020603050405020304" pitchFamily="18" charset="0"/>
              </a:rPr>
              <a:t>, Solaris, UnixWare, Windows.</a:t>
            </a:r>
          </a:p>
          <a:p>
            <a:pPr>
              <a:lnSpc>
                <a:spcPct val="150000"/>
              </a:lnSpc>
            </a:pPr>
            <a:r>
              <a:rPr lang="az-Latn-AZ" sz="1600" u="sng" dirty="0">
                <a:solidFill>
                  <a:schemeClr val="bg1"/>
                </a:solidFill>
                <a:highlight>
                  <a:srgbClr val="808080"/>
                </a:highlight>
                <a:latin typeface="Times New Roman" panose="02020603050405020304" pitchFamily="18" charset="0"/>
                <a:cs typeface="Times New Roman" panose="02020603050405020304" pitchFamily="18" charset="0"/>
              </a:rPr>
              <a:t>Veb sayt ünvanı:</a:t>
            </a:r>
            <a:r>
              <a:rPr lang="az-Latn-AZ" sz="1600" dirty="0">
                <a:solidFill>
                  <a:schemeClr val="bg1"/>
                </a:solidFill>
                <a:latin typeface="Times New Roman" panose="02020603050405020304" pitchFamily="18" charset="0"/>
                <a:cs typeface="Times New Roman" panose="02020603050405020304" pitchFamily="18" charset="0"/>
              </a:rPr>
              <a:t> </a:t>
            </a:r>
            <a:r>
              <a:rPr lang="az-Latn-AZ" sz="1600" dirty="0">
                <a:latin typeface="Times New Roman" panose="02020603050405020304" pitchFamily="18" charset="0"/>
                <a:cs typeface="Times New Roman" panose="02020603050405020304" pitchFamily="18" charset="0"/>
              </a:rPr>
              <a:t>www.squid-cache.org</a:t>
            </a:r>
            <a:endParaRPr lang="en-US" sz="1600" u="sng" dirty="0">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sp>
        <p:nvSpPr>
          <p:cNvPr id="3" name="TextBox 2">
            <a:extLst>
              <a:ext uri="{FF2B5EF4-FFF2-40B4-BE49-F238E27FC236}">
                <a16:creationId xmlns:a16="http://schemas.microsoft.com/office/drawing/2014/main" id="{F960DA24-EE3B-5C9E-5107-6C18E7C00F51}"/>
              </a:ext>
            </a:extLst>
          </p:cNvPr>
          <p:cNvSpPr txBox="1"/>
          <p:nvPr/>
        </p:nvSpPr>
        <p:spPr>
          <a:xfrm>
            <a:off x="1382175" y="1713101"/>
            <a:ext cx="1943100" cy="400110"/>
          </a:xfrm>
          <a:prstGeom prst="rect">
            <a:avLst/>
          </a:prstGeom>
          <a:noFill/>
        </p:spPr>
        <p:txBody>
          <a:bodyPr wrap="square" rtlCol="0">
            <a:spAutoFit/>
          </a:bodyPr>
          <a:lstStyle/>
          <a:p>
            <a:r>
              <a:rPr lang="az-Latn-AZ" sz="2000" b="1" dirty="0">
                <a:latin typeface="Times New Roman" panose="02020603050405020304" pitchFamily="18" charset="0"/>
                <a:cs typeface="Times New Roman" panose="02020603050405020304" pitchFamily="18" charset="0"/>
              </a:rPr>
              <a:t>Mənbə</a:t>
            </a:r>
            <a:r>
              <a:rPr lang="az-Latn-AZ" sz="1600" b="1" dirty="0">
                <a:latin typeface="Times New Roman" panose="02020603050405020304" pitchFamily="18" charset="0"/>
                <a:cs typeface="Times New Roman" panose="02020603050405020304" pitchFamily="18" charset="0"/>
              </a:rPr>
              <a:t>:</a:t>
            </a:r>
            <a:endParaRPr lang="en-US" sz="1600" b="1" dirty="0">
              <a:latin typeface="Times New Roman" panose="02020603050405020304" pitchFamily="18" charset="0"/>
              <a:cs typeface="Times New Roman" panose="02020603050405020304" pitchFamily="18" charset="0"/>
            </a:endParaRPr>
          </a:p>
        </p:txBody>
      </p:sp>
      <p:grpSp>
        <p:nvGrpSpPr>
          <p:cNvPr id="4" name="Google Shape;10702;p79">
            <a:extLst>
              <a:ext uri="{FF2B5EF4-FFF2-40B4-BE49-F238E27FC236}">
                <a16:creationId xmlns:a16="http://schemas.microsoft.com/office/drawing/2014/main" id="{4D7429A7-A8BD-B6FC-3A83-F41828C06FA0}"/>
              </a:ext>
            </a:extLst>
          </p:cNvPr>
          <p:cNvGrpSpPr/>
          <p:nvPr/>
        </p:nvGrpSpPr>
        <p:grpSpPr>
          <a:xfrm>
            <a:off x="980795" y="1713101"/>
            <a:ext cx="401380" cy="404023"/>
            <a:chOff x="4673540" y="3680297"/>
            <a:chExt cx="355434" cy="355815"/>
          </a:xfrm>
          <a:solidFill>
            <a:srgbClr val="00B0F0"/>
          </a:solidFill>
        </p:grpSpPr>
        <p:sp>
          <p:nvSpPr>
            <p:cNvPr id="5" name="Google Shape;10703;p79">
              <a:extLst>
                <a:ext uri="{FF2B5EF4-FFF2-40B4-BE49-F238E27FC236}">
                  <a16:creationId xmlns:a16="http://schemas.microsoft.com/office/drawing/2014/main" id="{68BEE18A-65EF-166F-E026-0CC09418BF29}"/>
                </a:ext>
              </a:extLst>
            </p:cNvPr>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704;p79">
              <a:extLst>
                <a:ext uri="{FF2B5EF4-FFF2-40B4-BE49-F238E27FC236}">
                  <a16:creationId xmlns:a16="http://schemas.microsoft.com/office/drawing/2014/main" id="{C1CC7F05-D128-F5AA-C173-86AEB5A4A98D}"/>
                </a:ext>
              </a:extLst>
            </p:cNvPr>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705;p79">
              <a:extLst>
                <a:ext uri="{FF2B5EF4-FFF2-40B4-BE49-F238E27FC236}">
                  <a16:creationId xmlns:a16="http://schemas.microsoft.com/office/drawing/2014/main" id="{2BE018B1-9043-7CBA-48FE-75973F76C003}"/>
                </a:ext>
              </a:extLst>
            </p:cNvPr>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TextBox 7">
            <a:extLst>
              <a:ext uri="{FF2B5EF4-FFF2-40B4-BE49-F238E27FC236}">
                <a16:creationId xmlns:a16="http://schemas.microsoft.com/office/drawing/2014/main" id="{5867C596-9A7B-7B5D-6011-77B5E8E35579}"/>
              </a:ext>
            </a:extLst>
          </p:cNvPr>
          <p:cNvSpPr txBox="1"/>
          <p:nvPr/>
        </p:nvSpPr>
        <p:spPr>
          <a:xfrm>
            <a:off x="980795" y="2376041"/>
            <a:ext cx="8059480" cy="1525418"/>
          </a:xfrm>
          <a:prstGeom prst="rect">
            <a:avLst/>
          </a:prstGeom>
          <a:noFill/>
        </p:spPr>
        <p:txBody>
          <a:bodyPr wrap="square" rtlCol="0">
            <a:spAutoFit/>
          </a:bodyPr>
          <a:lstStyle/>
          <a:p>
            <a:pPr marL="285750" indent="-285750">
              <a:lnSpc>
                <a:spcPct val="150000"/>
              </a:lnSpc>
              <a:buClr>
                <a:schemeClr val="bg1"/>
              </a:buClr>
              <a:buFont typeface="Wingdings" panose="05000000000000000000" pitchFamily="2" charset="2"/>
              <a:buChar char="Ø"/>
            </a:pPr>
            <a:r>
              <a:rPr lang="en-US" sz="1600" dirty="0">
                <a:solidFill>
                  <a:schemeClr val="bg1"/>
                </a:solidFill>
                <a:latin typeface="Times New Roman" panose="02020603050405020304" pitchFamily="18" charset="0"/>
                <a:cs typeface="Times New Roman" panose="02020603050405020304" pitchFamily="18" charset="0"/>
                <a:hlinkClick r:id="rId3"/>
              </a:rPr>
              <a:t>http://www.squid-cache.org/</a:t>
            </a:r>
            <a:endParaRPr lang="az-Latn-AZ" sz="16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Clr>
                <a:schemeClr val="bg1"/>
              </a:buClr>
              <a:buFont typeface="Wingdings" panose="05000000000000000000" pitchFamily="2" charset="2"/>
              <a:buChar char="Ø"/>
            </a:pPr>
            <a:r>
              <a:rPr lang="en-US" sz="1600" dirty="0">
                <a:solidFill>
                  <a:schemeClr val="bg1"/>
                </a:solidFill>
                <a:latin typeface="Times New Roman" panose="02020603050405020304" pitchFamily="18" charset="0"/>
                <a:cs typeface="Times New Roman" panose="02020603050405020304" pitchFamily="18" charset="0"/>
                <a:hlinkClick r:id="rId4"/>
              </a:rPr>
              <a:t>https://ubuntu.com/server/docs/proxy-servers-squid</a:t>
            </a:r>
            <a:endParaRPr lang="az-Latn-AZ" sz="16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Clr>
                <a:schemeClr val="bg1"/>
              </a:buClr>
              <a:buFont typeface="Wingdings" panose="05000000000000000000" pitchFamily="2" charset="2"/>
              <a:buChar char="Ø"/>
            </a:pPr>
            <a:r>
              <a:rPr lang="az-Latn-AZ" sz="1600" dirty="0">
                <a:solidFill>
                  <a:schemeClr val="bg1"/>
                </a:solidFill>
                <a:latin typeface="Times New Roman" panose="02020603050405020304" pitchFamily="18" charset="0"/>
                <a:cs typeface="Times New Roman" panose="02020603050405020304" pitchFamily="18" charset="0"/>
                <a:hlinkClick r:id="rId5"/>
              </a:rPr>
              <a:t>https://medium.com/@minigear/introduction-to-squid-proxy-server-and-application-5f307245fa1d#:~:text=Advantages,speeds%20with%20frequently%2Dused%20content</a:t>
            </a:r>
            <a:r>
              <a:rPr lang="az-Latn-AZ" sz="1600" dirty="0">
                <a:solidFill>
                  <a:schemeClr val="bg1"/>
                </a:solidFill>
                <a:latin typeface="Times New Roman" panose="02020603050405020304" pitchFamily="18" charset="0"/>
                <a:cs typeface="Times New Roman" panose="02020603050405020304" pitchFamily="18" charset="0"/>
              </a:rPr>
              <a:t>.</a:t>
            </a:r>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1" y="0"/>
            <a:ext cx="12191999" cy="6858000"/>
          </a:xfrm>
          <a:prstGeom prst="rect">
            <a:avLst/>
          </a:prstGeom>
        </p:spPr>
      </p:pic>
      <p:sp>
        <p:nvSpPr>
          <p:cNvPr id="9" name="TextBox 8">
            <a:extLst>
              <a:ext uri="{FF2B5EF4-FFF2-40B4-BE49-F238E27FC236}">
                <a16:creationId xmlns:a16="http://schemas.microsoft.com/office/drawing/2014/main" id="{F5527AA1-6D06-66C6-7B8A-226646B719F8}"/>
              </a:ext>
            </a:extLst>
          </p:cNvPr>
          <p:cNvSpPr txBox="1"/>
          <p:nvPr/>
        </p:nvSpPr>
        <p:spPr>
          <a:xfrm>
            <a:off x="1557747" y="328986"/>
            <a:ext cx="1499585" cy="523220"/>
          </a:xfrm>
          <a:prstGeom prst="rect">
            <a:avLst/>
          </a:prstGeom>
          <a:noFill/>
        </p:spPr>
        <p:txBody>
          <a:bodyPr wrap="square" rtlCol="0">
            <a:spAutoFit/>
          </a:bodyPr>
          <a:lstStyle/>
          <a:p>
            <a:r>
              <a:rPr lang="az-Latn-AZ" sz="28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Əlavə</a:t>
            </a:r>
            <a:endParaRPr lang="en-US" sz="28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F42C0BD-46E7-4971-82B6-3C0778DB5402}"/>
              </a:ext>
            </a:extLst>
          </p:cNvPr>
          <p:cNvSpPr txBox="1"/>
          <p:nvPr/>
        </p:nvSpPr>
        <p:spPr>
          <a:xfrm>
            <a:off x="280805" y="1181192"/>
            <a:ext cx="4281864" cy="3293209"/>
          </a:xfrm>
          <a:prstGeom prst="rect">
            <a:avLst/>
          </a:prstGeom>
          <a:noFill/>
        </p:spPr>
        <p:txBody>
          <a:bodyPr wrap="square">
            <a:spAutoFit/>
          </a:bodyPr>
          <a:lstStyle/>
          <a:p>
            <a:pPr marL="285750" indent="-285750">
              <a:buFont typeface="Arial" panose="020B0604020202020204" pitchFamily="34" charset="0"/>
              <a:buChar char="•"/>
            </a:pPr>
            <a:r>
              <a:rPr lang="az-Latn-AZ" sz="1600" dirty="0" err="1">
                <a:solidFill>
                  <a:schemeClr val="accent2"/>
                </a:solidFill>
                <a:latin typeface="Times New Roman" panose="02020603050405020304" pitchFamily="18" charset="0"/>
                <a:cs typeface="Times New Roman" panose="02020603050405020304" pitchFamily="18" charset="0"/>
              </a:rPr>
              <a:t>Nginx</a:t>
            </a:r>
            <a:r>
              <a:rPr lang="az-Latn-AZ" sz="1600" dirty="0">
                <a:solidFill>
                  <a:schemeClr val="accent2"/>
                </a:solidFill>
                <a:latin typeface="Times New Roman" panose="02020603050405020304" pitchFamily="18" charset="0"/>
                <a:cs typeface="Times New Roman" panose="02020603050405020304" pitchFamily="18" charset="0"/>
              </a:rPr>
              <a:t> </a:t>
            </a:r>
            <a:r>
              <a:rPr lang="az-Latn-AZ" sz="1600" dirty="0" err="1">
                <a:solidFill>
                  <a:schemeClr val="accent2"/>
                </a:solidFill>
                <a:latin typeface="Times New Roman" panose="02020603050405020304" pitchFamily="18" charset="0"/>
                <a:cs typeface="Times New Roman" panose="02020603050405020304" pitchFamily="18" charset="0"/>
              </a:rPr>
              <a:t>Reverse</a:t>
            </a:r>
            <a:r>
              <a:rPr lang="az-Latn-AZ" sz="1600" dirty="0">
                <a:solidFill>
                  <a:schemeClr val="accent2"/>
                </a:solidFill>
                <a:latin typeface="Times New Roman" panose="02020603050405020304" pitchFamily="18" charset="0"/>
                <a:cs typeface="Times New Roman" panose="02020603050405020304" pitchFamily="18" charset="0"/>
              </a:rPr>
              <a:t> Proxy (Giriş / </a:t>
            </a:r>
            <a:r>
              <a:rPr lang="az-Latn-AZ" sz="1600" dirty="0" err="1">
                <a:solidFill>
                  <a:schemeClr val="accent2"/>
                </a:solidFill>
                <a:latin typeface="Times New Roman" panose="02020603050405020304" pitchFamily="18" charset="0"/>
                <a:cs typeface="Times New Roman" panose="02020603050405020304" pitchFamily="18" charset="0"/>
              </a:rPr>
              <a:t>Inbound</a:t>
            </a:r>
            <a:r>
              <a:rPr lang="az-Latn-AZ" sz="1600" dirty="0">
                <a:solidFill>
                  <a:schemeClr val="accent2"/>
                </a:solidFill>
                <a:latin typeface="Times New Roman" panose="02020603050405020304" pitchFamily="18" charset="0"/>
                <a:cs typeface="Times New Roman" panose="02020603050405020304" pitchFamily="18" charset="0"/>
              </a:rPr>
              <a:t>): </a:t>
            </a:r>
            <a:br>
              <a:rPr lang="az-Latn-AZ" sz="1600" dirty="0">
                <a:latin typeface="Times New Roman" panose="02020603050405020304" pitchFamily="18" charset="0"/>
                <a:cs typeface="Times New Roman" panose="02020603050405020304" pitchFamily="18" charset="0"/>
              </a:rPr>
            </a:br>
            <a:r>
              <a:rPr lang="az-Latn-AZ" sz="1600" dirty="0">
                <a:latin typeface="Times New Roman" panose="02020603050405020304" pitchFamily="18" charset="0"/>
                <a:cs typeface="Times New Roman" panose="02020603050405020304" pitchFamily="18" charset="0"/>
              </a:rPr>
              <a:t>Xaricdən (</a:t>
            </a:r>
            <a:r>
              <a:rPr lang="az-Latn-AZ" sz="1600" dirty="0" err="1">
                <a:latin typeface="Times New Roman" panose="02020603050405020304" pitchFamily="18" charset="0"/>
                <a:cs typeface="Times New Roman" panose="02020603050405020304" pitchFamily="18" charset="0"/>
              </a:rPr>
              <a:t>klientlərdən</a:t>
            </a:r>
            <a:r>
              <a:rPr lang="az-Latn-AZ" sz="1600" dirty="0">
                <a:latin typeface="Times New Roman" panose="02020603050405020304" pitchFamily="18" charset="0"/>
                <a:cs typeface="Times New Roman" panose="02020603050405020304" pitchFamily="18" charset="0"/>
              </a:rPr>
              <a:t>) gələn sorğuları qarşılayır və </a:t>
            </a:r>
            <a:r>
              <a:rPr lang="az-Latn-AZ" sz="1600" dirty="0" err="1">
                <a:latin typeface="Times New Roman" panose="02020603050405020304" pitchFamily="18" charset="0"/>
                <a:cs typeface="Times New Roman" panose="02020603050405020304" pitchFamily="18" charset="0"/>
              </a:rPr>
              <a:t>domen</a:t>
            </a:r>
            <a:r>
              <a:rPr lang="az-Latn-AZ" sz="1600" dirty="0">
                <a:latin typeface="Times New Roman" panose="02020603050405020304" pitchFamily="18" charset="0"/>
                <a:cs typeface="Times New Roman" panose="02020603050405020304" pitchFamily="18" charset="0"/>
              </a:rPr>
              <a:t> adına əsasən (`w.soclab.info`, `ci.soclab.info` və s.) daxili şəbəkədəki müvafiq serverə və ya konteynerə </a:t>
            </a:r>
            <a:r>
              <a:rPr lang="az-Latn-AZ" sz="1600" dirty="0" err="1">
                <a:latin typeface="Times New Roman" panose="02020603050405020304" pitchFamily="18" charset="0"/>
                <a:cs typeface="Times New Roman" panose="02020603050405020304" pitchFamily="18" charset="0"/>
              </a:rPr>
              <a:t>yönləndirir</a:t>
            </a:r>
            <a:r>
              <a:rPr lang="az-Latn-AZ" sz="1600" dirty="0">
                <a:latin typeface="Times New Roman" panose="02020603050405020304" pitchFamily="18" charset="0"/>
                <a:cs typeface="Times New Roman" panose="02020603050405020304" pitchFamily="18" charset="0"/>
              </a:rPr>
              <a:t>. </a:t>
            </a:r>
          </a:p>
          <a:p>
            <a:endParaRPr lang="az-Latn-AZ"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az-Latn-AZ" sz="1600" dirty="0" err="1">
                <a:solidFill>
                  <a:schemeClr val="accent2"/>
                </a:solidFill>
                <a:latin typeface="Times New Roman" panose="02020603050405020304" pitchFamily="18" charset="0"/>
                <a:cs typeface="Times New Roman" panose="02020603050405020304" pitchFamily="18" charset="0"/>
              </a:rPr>
              <a:t>Squid</a:t>
            </a:r>
            <a:r>
              <a:rPr lang="az-Latn-AZ" sz="1600" dirty="0">
                <a:solidFill>
                  <a:schemeClr val="accent2"/>
                </a:solidFill>
                <a:latin typeface="Times New Roman" panose="02020603050405020304" pitchFamily="18" charset="0"/>
                <a:cs typeface="Times New Roman" panose="02020603050405020304" pitchFamily="18" charset="0"/>
              </a:rPr>
              <a:t> Proxy (Çıxış / </a:t>
            </a:r>
            <a:r>
              <a:rPr lang="az-Latn-AZ" sz="1600" dirty="0" err="1">
                <a:solidFill>
                  <a:schemeClr val="accent2"/>
                </a:solidFill>
                <a:latin typeface="Times New Roman" panose="02020603050405020304" pitchFamily="18" charset="0"/>
                <a:cs typeface="Times New Roman" panose="02020603050405020304" pitchFamily="18" charset="0"/>
              </a:rPr>
              <a:t>Outbound</a:t>
            </a:r>
            <a:r>
              <a:rPr lang="az-Latn-AZ" sz="1600" dirty="0">
                <a:solidFill>
                  <a:schemeClr val="accent2"/>
                </a:solidFill>
                <a:latin typeface="Times New Roman" panose="02020603050405020304" pitchFamily="18" charset="0"/>
                <a:cs typeface="Times New Roman" panose="02020603050405020304" pitchFamily="18" charset="0"/>
              </a:rPr>
              <a:t>):</a:t>
            </a:r>
            <a:br>
              <a:rPr lang="az-Latn-AZ" sz="1600" dirty="0">
                <a:latin typeface="Times New Roman" panose="02020603050405020304" pitchFamily="18" charset="0"/>
                <a:cs typeface="Times New Roman" panose="02020603050405020304" pitchFamily="18" charset="0"/>
              </a:rPr>
            </a:br>
            <a:r>
              <a:rPr lang="az-Latn-AZ" sz="1600" dirty="0">
                <a:latin typeface="Times New Roman" panose="02020603050405020304" pitchFamily="18" charset="0"/>
                <a:cs typeface="Times New Roman" panose="02020603050405020304" pitchFamily="18" charset="0"/>
              </a:rPr>
              <a:t>Daxili şəbəkədə olan izolyasiya olunmuş serverlərin xarici internetə çıxışını idarə edir; sistem </a:t>
            </a:r>
            <a:r>
              <a:rPr lang="az-Latn-AZ" sz="1600" dirty="0" err="1">
                <a:latin typeface="Times New Roman" panose="02020603050405020304" pitchFamily="18" charset="0"/>
                <a:cs typeface="Times New Roman" panose="02020603050405020304" pitchFamily="18" charset="0"/>
              </a:rPr>
              <a:t>yeniləmələri</a:t>
            </a:r>
            <a:r>
              <a:rPr lang="az-Latn-AZ" sz="1600" dirty="0">
                <a:latin typeface="Times New Roman" panose="02020603050405020304" pitchFamily="18" charset="0"/>
                <a:cs typeface="Times New Roman" panose="02020603050405020304" pitchFamily="18" charset="0"/>
              </a:rPr>
              <a:t>, </a:t>
            </a:r>
            <a:r>
              <a:rPr lang="az-Latn-AZ" sz="1600" dirty="0" err="1">
                <a:latin typeface="Times New Roman" panose="02020603050405020304" pitchFamily="18" charset="0"/>
                <a:cs typeface="Times New Roman" panose="02020603050405020304" pitchFamily="18" charset="0"/>
              </a:rPr>
              <a:t>Docker</a:t>
            </a:r>
            <a:r>
              <a:rPr lang="az-Latn-AZ" sz="1600" dirty="0">
                <a:latin typeface="Times New Roman" panose="02020603050405020304" pitchFamily="18" charset="0"/>
                <a:cs typeface="Times New Roman" panose="02020603050405020304" pitchFamily="18" charset="0"/>
              </a:rPr>
              <a:t> </a:t>
            </a:r>
            <a:r>
              <a:rPr lang="az-Latn-AZ" sz="1600" dirty="0" err="1">
                <a:latin typeface="Times New Roman" panose="02020603050405020304" pitchFamily="18" charset="0"/>
                <a:cs typeface="Times New Roman" panose="02020603050405020304" pitchFamily="18" charset="0"/>
              </a:rPr>
              <a:t>image</a:t>
            </a:r>
            <a:r>
              <a:rPr lang="az-Latn-AZ" sz="1600" dirty="0">
                <a:latin typeface="Times New Roman" panose="02020603050405020304" pitchFamily="18" charset="0"/>
                <a:cs typeface="Times New Roman" panose="02020603050405020304" pitchFamily="18" charset="0"/>
              </a:rPr>
              <a:t> </a:t>
            </a:r>
            <a:r>
              <a:rPr lang="az-Latn-AZ" sz="1600" dirty="0" err="1">
                <a:latin typeface="Times New Roman" panose="02020603050405020304" pitchFamily="18" charset="0"/>
                <a:cs typeface="Times New Roman" panose="02020603050405020304" pitchFamily="18" charset="0"/>
              </a:rPr>
              <a:t>yükləmələri</a:t>
            </a:r>
            <a:r>
              <a:rPr lang="az-Latn-AZ" sz="1600" dirty="0">
                <a:latin typeface="Times New Roman" panose="02020603050405020304" pitchFamily="18" charset="0"/>
                <a:cs typeface="Times New Roman" panose="02020603050405020304" pitchFamily="18" charset="0"/>
              </a:rPr>
              <a:t> və kənar API müraciətlərini filtrləyərək xaricə ötürür.</a:t>
            </a:r>
          </a:p>
        </p:txBody>
      </p:sp>
      <p:pic>
        <p:nvPicPr>
          <p:cNvPr id="17" name="Picture 16">
            <a:extLst>
              <a:ext uri="{FF2B5EF4-FFF2-40B4-BE49-F238E27FC236}">
                <a16:creationId xmlns:a16="http://schemas.microsoft.com/office/drawing/2014/main" id="{B6816077-BBAD-ECAF-581B-35183EF0E93A}"/>
              </a:ext>
            </a:extLst>
          </p:cNvPr>
          <p:cNvPicPr>
            <a:picLocks noChangeAspect="1"/>
          </p:cNvPicPr>
          <p:nvPr/>
        </p:nvPicPr>
        <p:blipFill>
          <a:blip r:embed="rId3"/>
          <a:stretch>
            <a:fillRect/>
          </a:stretch>
        </p:blipFill>
        <p:spPr>
          <a:xfrm>
            <a:off x="4843473" y="559723"/>
            <a:ext cx="7157464" cy="5738553"/>
          </a:xfrm>
          <a:prstGeom prst="rect">
            <a:avLst/>
          </a:prstGeom>
        </p:spPr>
      </p:pic>
    </p:spTree>
    <p:extLst>
      <p:ext uri="{BB962C8B-B14F-4D97-AF65-F5344CB8AC3E}">
        <p14:creationId xmlns:p14="http://schemas.microsoft.com/office/powerpoint/2010/main" val="181773632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content_bg.png"/>
          <p:cNvPicPr>
            <a:picLocks noChangeAspect="1"/>
          </p:cNvPicPr>
          <p:nvPr/>
        </p:nvPicPr>
        <p:blipFill>
          <a:blip r:embed="rId2"/>
          <a:stretch>
            <a:fillRect/>
          </a:stretch>
        </p:blipFill>
        <p:spPr>
          <a:xfrm>
            <a:off x="0" y="0"/>
            <a:ext cx="12191999" cy="6858000"/>
          </a:xfrm>
          <a:prstGeom prst="rect">
            <a:avLst/>
          </a:prstGeom>
        </p:spPr>
      </p:pic>
      <p:pic>
        <p:nvPicPr>
          <p:cNvPr id="13" name="Picture 12">
            <a:extLst>
              <a:ext uri="{FF2B5EF4-FFF2-40B4-BE49-F238E27FC236}">
                <a16:creationId xmlns:a16="http://schemas.microsoft.com/office/drawing/2014/main" id="{BE693F9E-54D8-1071-7413-8736F47F0CB3}"/>
              </a:ext>
            </a:extLst>
          </p:cNvPr>
          <p:cNvPicPr>
            <a:picLocks noChangeAspect="1"/>
          </p:cNvPicPr>
          <p:nvPr/>
        </p:nvPicPr>
        <p:blipFill>
          <a:blip r:embed="rId3"/>
          <a:srcRect l="3822" t="5442" r="2585" b="4897"/>
          <a:stretch/>
        </p:blipFill>
        <p:spPr>
          <a:xfrm>
            <a:off x="2071396" y="373224"/>
            <a:ext cx="8005665" cy="6148874"/>
          </a:xfrm>
          <a:prstGeom prst="rect">
            <a:avLst/>
          </a:prstGeom>
        </p:spPr>
      </p:pic>
      <p:sp>
        <p:nvSpPr>
          <p:cNvPr id="14" name="TextBox 13">
            <a:extLst>
              <a:ext uri="{FF2B5EF4-FFF2-40B4-BE49-F238E27FC236}">
                <a16:creationId xmlns:a16="http://schemas.microsoft.com/office/drawing/2014/main" id="{ADDE65E1-30B2-75D8-D199-2B85E5829339}"/>
              </a:ext>
            </a:extLst>
          </p:cNvPr>
          <p:cNvSpPr txBox="1"/>
          <p:nvPr/>
        </p:nvSpPr>
        <p:spPr>
          <a:xfrm>
            <a:off x="680668" y="702211"/>
            <a:ext cx="1499585" cy="523220"/>
          </a:xfrm>
          <a:prstGeom prst="rect">
            <a:avLst/>
          </a:prstGeom>
          <a:noFill/>
        </p:spPr>
        <p:txBody>
          <a:bodyPr wrap="square" rtlCol="0">
            <a:spAutoFit/>
          </a:bodyPr>
          <a:lstStyle/>
          <a:p>
            <a:r>
              <a:rPr lang="az-Latn-AZ" sz="28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Əlavə</a:t>
            </a:r>
            <a:endParaRPr lang="en-US" sz="28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370339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quid_proxy_title_closing_bg.png"/>
          <p:cNvPicPr>
            <a:picLocks noChangeAspect="1"/>
          </p:cNvPicPr>
          <p:nvPr/>
        </p:nvPicPr>
        <p:blipFill>
          <a:blip r:embed="rId2"/>
          <a:stretch>
            <a:fillRect/>
          </a:stretch>
        </p:blipFill>
        <p:spPr>
          <a:xfrm>
            <a:off x="0" y="0"/>
            <a:ext cx="12191999" cy="6858000"/>
          </a:xfrm>
          <a:prstGeom prst="rect">
            <a:avLst/>
          </a:prstGeom>
        </p:spPr>
      </p:pic>
      <p:sp>
        <p:nvSpPr>
          <p:cNvPr id="3" name="TextBox 2">
            <a:extLst>
              <a:ext uri="{FF2B5EF4-FFF2-40B4-BE49-F238E27FC236}">
                <a16:creationId xmlns:a16="http://schemas.microsoft.com/office/drawing/2014/main" id="{846D479C-000F-027E-30E2-418D01581D14}"/>
              </a:ext>
            </a:extLst>
          </p:cNvPr>
          <p:cNvSpPr txBox="1"/>
          <p:nvPr/>
        </p:nvSpPr>
        <p:spPr>
          <a:xfrm>
            <a:off x="1992461" y="2257562"/>
            <a:ext cx="5311140" cy="584775"/>
          </a:xfrm>
          <a:prstGeom prst="rect">
            <a:avLst/>
          </a:prstGeom>
          <a:noFill/>
        </p:spPr>
        <p:txBody>
          <a:bodyPr wrap="square" rtlCol="0">
            <a:spAutoFit/>
          </a:bodyPr>
          <a:lstStyle/>
          <a:p>
            <a:r>
              <a:rPr lang="az-Latn-AZ" sz="3200" b="1" dirty="0">
                <a:solidFill>
                  <a:schemeClr val="bg1"/>
                </a:solidFill>
                <a:latin typeface="Times New Roman" panose="02020603050405020304" pitchFamily="18" charset="0"/>
                <a:cs typeface="Times New Roman" panose="02020603050405020304" pitchFamily="18" charset="0"/>
              </a:rPr>
              <a:t>Diqqətiniz üçün təşəkkürlər!</a:t>
            </a:r>
            <a:endParaRPr lang="en-US" sz="3200" b="1" dirty="0">
              <a:solidFill>
                <a:schemeClr val="bg1"/>
              </a:solidFill>
              <a:latin typeface="Times New Roman" panose="02020603050405020304" pitchFamily="18" charset="0"/>
              <a:cs typeface="Times New Roman" panose="02020603050405020304" pitchFamily="18" charset="0"/>
            </a:endParaRPr>
          </a:p>
        </p:txBody>
      </p:sp>
      <p:pic>
        <p:nvPicPr>
          <p:cNvPr id="3074" name="Picture 2" descr="Squid logo | Squid Web Cache wiki">
            <a:extLst>
              <a:ext uri="{FF2B5EF4-FFF2-40B4-BE49-F238E27FC236}">
                <a16:creationId xmlns:a16="http://schemas.microsoft.com/office/drawing/2014/main" id="{811ED66B-9F48-9B66-E2D0-3A833FC6F6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1780" y="3429000"/>
            <a:ext cx="2045413" cy="23551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TotalTime>
  <Words>1183</Words>
  <Application>Microsoft Office PowerPoint</Application>
  <PresentationFormat>Widescreen</PresentationFormat>
  <Paragraphs>68</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Elmir</dc:creator>
  <cp:lastModifiedBy>Elmir</cp:lastModifiedBy>
  <cp:revision>3</cp:revision>
  <dcterms:created xsi:type="dcterms:W3CDTF">2026-10-02T18:26:34Z</dcterms:created>
  <dcterms:modified xsi:type="dcterms:W3CDTF">2026-10-02T20:28:43Z</dcterms:modified>
</cp:coreProperties>
</file>